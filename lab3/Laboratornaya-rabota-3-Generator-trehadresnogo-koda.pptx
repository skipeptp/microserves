
<file path=[Content_Types].xml><?xml version="1.0" encoding="utf-8"?>
<Types xmlns="http://schemas.openxmlformats.org/package/2006/content-types">
  <Default Extension="fntdata" ContentType="application/x-fontdata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 autoCompressPictures="0">
  <p:sldMasterIdLst>
    <p:sldMasterId id="2147483648" r:id="rId1"/>
  </p:sldMasterIdLst>
  <p:notesMasterIdLst>
    <p:notesMasterId r:id="rId10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sldSz cx="14630400" cy="8229600"/>
  <p:notesSz cx="8229600" cy="14630400"/>
  <p:embeddedFontLst>
    <p:embeddedFont>
      <p:font typeface="Alexandria Semi Bold" panose="020B0604020202020204" charset="-78"/>
      <p:regular r:id="rId11"/>
    </p:embeddedFont>
    <p:embeddedFont>
      <p:font typeface="Calibri" panose="020F0502020204030204" pitchFamily="34" charset="0"/>
      <p:regular r:id="rId12"/>
      <p:bold r:id="rId13"/>
      <p:italic r:id="rId14"/>
      <p:boldItalic r:id="rId15"/>
    </p:embeddedFont>
    <p:embeddedFont>
      <p:font typeface="Sora Light" panose="020B0604020202020204" charset="0"/>
      <p:regular r:id="rId16"/>
    </p:embeddedFont>
  </p:embeddedFontLst>
  <p:defaultTextStyle>
    <a:defPPr>
      <a:defRPr lang="ru-RU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FFAFA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>
        <p:scale>
          <a:sx n="100" d="100"/>
          <a:sy n="100" d="100"/>
        </p:scale>
        <p:origin x="58" y="-108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font" Target="fonts/font3.fntdata"/><Relationship Id="rId1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font" Target="fonts/font2.fntdata"/><Relationship Id="rId17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font" Target="fonts/font6.fntdata"/><Relationship Id="rId20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font" Target="fonts/font1.fntdata"/><Relationship Id="rId5" Type="http://schemas.openxmlformats.org/officeDocument/2006/relationships/slide" Target="slides/slide4.xml"/><Relationship Id="rId15" Type="http://schemas.openxmlformats.org/officeDocument/2006/relationships/font" Target="fonts/font5.fntdata"/><Relationship Id="rId10" Type="http://schemas.openxmlformats.org/officeDocument/2006/relationships/notesMaster" Target="notesMasters/notesMaster1.xml"/><Relationship Id="rId19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font" Target="fonts/font4.fntdata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55312187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1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E7EEF9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AFA"/>
          </a:solidFill>
          <a:ln/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2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E7EEF9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AFA"/>
          </a:solidFill>
          <a:ln/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3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E7EEF9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AFA"/>
          </a:solidFill>
          <a:ln/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4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E7EEF9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AFA"/>
          </a:solidFill>
          <a:ln/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5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E7EEF9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AFA"/>
          </a:solidFill>
          <a:ln/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6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E7EEF9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AFA"/>
          </a:solidFill>
          <a:ln/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7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E7EEF9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AFA"/>
          </a:solidFill>
          <a:ln/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8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E7EEF9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AFA"/>
          </a:solidFill>
          <a:ln/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10" Type="http://schemas.openxmlformats.org/officeDocument/2006/relationships/theme" Target="../theme/theme1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3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4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5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6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8.xml"/></Relationships>
</file>

<file path=ppt/slides/_rels/slide8.xml.rels><?xml version="1.0" encoding="UTF-8" standalone="yes"?>
<Relationships xmlns="http://schemas.openxmlformats.org/package/2006/relationships"><Relationship Id="rId8" Type="http://schemas.openxmlformats.org/officeDocument/2006/relationships/image" Target="../media/image9.svg"/><Relationship Id="rId3" Type="http://schemas.openxmlformats.org/officeDocument/2006/relationships/image" Target="../media/image4.png"/><Relationship Id="rId7" Type="http://schemas.openxmlformats.org/officeDocument/2006/relationships/image" Target="../media/image8.sv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9.xml"/><Relationship Id="rId6" Type="http://schemas.openxmlformats.org/officeDocument/2006/relationships/image" Target="../media/image7.svg"/><Relationship Id="rId5" Type="http://schemas.openxmlformats.org/officeDocument/2006/relationships/image" Target="../media/image6.svg"/><Relationship Id="rId4" Type="http://schemas.openxmlformats.org/officeDocument/2006/relationships/image" Target="../media/image5.sv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144000" y="0"/>
            <a:ext cx="5486400" cy="82296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758309" y="2067997"/>
            <a:ext cx="7627382" cy="21381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5600"/>
              </a:lnSpc>
              <a:buNone/>
            </a:pPr>
            <a:r>
              <a:rPr lang="en-US" sz="4450" dirty="0">
                <a:solidFill>
                  <a:srgbClr val="1F1E1E"/>
                </a:solidFill>
                <a:latin typeface="Alexandria Semi Bold" pitchFamily="34" charset="0"/>
                <a:ea typeface="Alexandria Semi Bold" pitchFamily="34" charset="-122"/>
                <a:cs typeface="Alexandria Semi Bold" pitchFamily="34" charset="-120"/>
              </a:rPr>
              <a:t>Лабораторная работа №3: Генератор трехадресного кода</a:t>
            </a:r>
            <a:endParaRPr lang="en-US" sz="4450" dirty="0"/>
          </a:p>
        </p:txBody>
      </p:sp>
      <p:sp>
        <p:nvSpPr>
          <p:cNvPr id="4" name="Text 1"/>
          <p:cNvSpPr/>
          <p:nvPr/>
        </p:nvSpPr>
        <p:spPr>
          <a:xfrm>
            <a:off x="758309" y="4531043"/>
            <a:ext cx="7627382" cy="34671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00"/>
              </a:lnSpc>
              <a:buNone/>
            </a:pPr>
            <a:r>
              <a:rPr lang="en-US" sz="1700" dirty="0">
                <a:solidFill>
                  <a:srgbClr val="3B3535"/>
                </a:solidFill>
                <a:latin typeface="Sora Light" pitchFamily="34" charset="0"/>
                <a:ea typeface="Sora Light" pitchFamily="34" charset="-122"/>
                <a:cs typeface="Sora Light" pitchFamily="34" charset="-120"/>
              </a:rPr>
              <a:t>Студент группы 3092 </a:t>
            </a:r>
            <a:r>
              <a:rPr lang="ru-RU" sz="1700" dirty="0">
                <a:solidFill>
                  <a:srgbClr val="3B3535"/>
                </a:solidFill>
                <a:latin typeface="Sora Light" pitchFamily="34" charset="0"/>
                <a:ea typeface="Sora Light" pitchFamily="34" charset="-122"/>
                <a:cs typeface="Sora Light" pitchFamily="34" charset="-120"/>
              </a:rPr>
              <a:t>Карпухин Г.Д</a:t>
            </a:r>
            <a:r>
              <a:rPr lang="en-US" sz="1700" dirty="0">
                <a:solidFill>
                  <a:srgbClr val="3B3535"/>
                </a:solidFill>
                <a:latin typeface="Sora Light" pitchFamily="34" charset="0"/>
                <a:ea typeface="Sora Light" pitchFamily="34" charset="-122"/>
                <a:cs typeface="Sora Light" pitchFamily="34" charset="-120"/>
              </a:rPr>
              <a:t>.</a:t>
            </a:r>
            <a:endParaRPr lang="en-US" sz="1700" dirty="0"/>
          </a:p>
        </p:txBody>
      </p:sp>
      <p:sp>
        <p:nvSpPr>
          <p:cNvPr id="5" name="Text 2"/>
          <p:cNvSpPr/>
          <p:nvPr/>
        </p:nvSpPr>
        <p:spPr>
          <a:xfrm>
            <a:off x="758309" y="5121473"/>
            <a:ext cx="7627382" cy="10401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700"/>
              </a:lnSpc>
              <a:buNone/>
            </a:pPr>
            <a:r>
              <a:rPr lang="en-US" sz="1700" dirty="0">
                <a:solidFill>
                  <a:srgbClr val="3B3535"/>
                </a:solidFill>
                <a:latin typeface="Sora Light" pitchFamily="34" charset="0"/>
                <a:ea typeface="Sora Light" pitchFamily="34" charset="-122"/>
                <a:cs typeface="Sora Light" pitchFamily="34" charset="-120"/>
              </a:rPr>
              <a:t>Проверил: ассистент Яковлев Н. С. Кафедра общей и экспериментальной физики Новгородский государственный университет им. Ярослава Мудрого 2025</a:t>
            </a:r>
            <a:endParaRPr lang="en-US" sz="17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78061" y="534472"/>
            <a:ext cx="5098613" cy="63722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5000"/>
              </a:lnSpc>
              <a:buNone/>
            </a:pPr>
            <a:r>
              <a:rPr lang="en-US" sz="4000" dirty="0">
                <a:solidFill>
                  <a:srgbClr val="1F1E1E"/>
                </a:solidFill>
                <a:latin typeface="Alexandria Semi Bold" pitchFamily="34" charset="0"/>
                <a:ea typeface="Alexandria Semi Bold" pitchFamily="34" charset="-122"/>
                <a:cs typeface="Alexandria Semi Bold" pitchFamily="34" charset="-120"/>
              </a:rPr>
              <a:t>Постановка задачи</a:t>
            </a:r>
            <a:endParaRPr lang="en-US" sz="4000" dirty="0"/>
          </a:p>
        </p:txBody>
      </p:sp>
      <p:sp>
        <p:nvSpPr>
          <p:cNvPr id="3" name="Text 1"/>
          <p:cNvSpPr/>
          <p:nvPr/>
        </p:nvSpPr>
        <p:spPr>
          <a:xfrm>
            <a:off x="678061" y="1559123"/>
            <a:ext cx="13274278" cy="30992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400"/>
              </a:lnSpc>
              <a:buNone/>
            </a:pPr>
            <a:r>
              <a:rPr lang="en-US" sz="1500" dirty="0">
                <a:solidFill>
                  <a:srgbClr val="3B3535"/>
                </a:solidFill>
                <a:latin typeface="Sora Light" pitchFamily="34" charset="0"/>
                <a:ea typeface="Sora Light" pitchFamily="34" charset="-122"/>
                <a:cs typeface="Sora Light" pitchFamily="34" charset="-120"/>
              </a:rPr>
              <a:t>Цель: Разработать компилятор на C++ для простого императивного языка с полным циклом трансляции.</a:t>
            </a:r>
            <a:endParaRPr lang="en-US" sz="1500" dirty="0"/>
          </a:p>
        </p:txBody>
      </p:sp>
      <p:sp>
        <p:nvSpPr>
          <p:cNvPr id="4" name="Shape 2"/>
          <p:cNvSpPr/>
          <p:nvPr/>
        </p:nvSpPr>
        <p:spPr>
          <a:xfrm>
            <a:off x="678061" y="2086928"/>
            <a:ext cx="435888" cy="435888"/>
          </a:xfrm>
          <a:prstGeom prst="roundRect">
            <a:avLst>
              <a:gd name="adj" fmla="val 18669"/>
            </a:avLst>
          </a:prstGeom>
          <a:solidFill>
            <a:srgbClr val="D5DCF6"/>
          </a:solidFill>
          <a:ln w="7620">
            <a:solidFill>
              <a:srgbClr val="BBC2DC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43010" y="2113657"/>
            <a:ext cx="305872" cy="38231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2400"/>
              </a:lnSpc>
              <a:buNone/>
            </a:pPr>
            <a:r>
              <a:rPr lang="en-US" sz="2400" dirty="0">
                <a:solidFill>
                  <a:srgbClr val="3B3535"/>
                </a:solidFill>
                <a:latin typeface="Alexandria Semi Bold" pitchFamily="34" charset="0"/>
                <a:ea typeface="Alexandria Semi Bold" pitchFamily="34" charset="-122"/>
                <a:cs typeface="Alexandria Semi Bold" pitchFamily="34" charset="-120"/>
              </a:rPr>
              <a:t>1</a:t>
            </a:r>
            <a:endParaRPr lang="en-US" sz="2400" dirty="0"/>
          </a:p>
        </p:txBody>
      </p:sp>
      <p:sp>
        <p:nvSpPr>
          <p:cNvPr id="6" name="Text 4"/>
          <p:cNvSpPr/>
          <p:nvPr/>
        </p:nvSpPr>
        <p:spPr>
          <a:xfrm>
            <a:off x="1307663" y="2153483"/>
            <a:ext cx="3700224" cy="31861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500"/>
              </a:lnSpc>
              <a:buNone/>
            </a:pPr>
            <a:r>
              <a:rPr lang="en-US" sz="2000" dirty="0">
                <a:solidFill>
                  <a:srgbClr val="3B3535"/>
                </a:solidFill>
                <a:latin typeface="Alexandria Semi Bold" pitchFamily="34" charset="0"/>
                <a:ea typeface="Alexandria Semi Bold" pitchFamily="34" charset="-122"/>
                <a:cs typeface="Alexandria Semi Bold" pitchFamily="34" charset="-120"/>
              </a:rPr>
              <a:t>Лексический анализ (токены)</a:t>
            </a:r>
            <a:endParaRPr lang="en-US" sz="2000" dirty="0"/>
          </a:p>
        </p:txBody>
      </p:sp>
      <p:sp>
        <p:nvSpPr>
          <p:cNvPr id="7" name="Shape 5"/>
          <p:cNvSpPr/>
          <p:nvPr/>
        </p:nvSpPr>
        <p:spPr>
          <a:xfrm>
            <a:off x="678061" y="2910245"/>
            <a:ext cx="435888" cy="435888"/>
          </a:xfrm>
          <a:prstGeom prst="roundRect">
            <a:avLst>
              <a:gd name="adj" fmla="val 18669"/>
            </a:avLst>
          </a:prstGeom>
          <a:solidFill>
            <a:srgbClr val="D5DCF6"/>
          </a:solidFill>
          <a:ln w="7620">
            <a:solidFill>
              <a:srgbClr val="BBC2DC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743010" y="2936974"/>
            <a:ext cx="305872" cy="38231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2400"/>
              </a:lnSpc>
              <a:buNone/>
            </a:pPr>
            <a:r>
              <a:rPr lang="en-US" sz="2400" dirty="0">
                <a:solidFill>
                  <a:srgbClr val="3B3535"/>
                </a:solidFill>
                <a:latin typeface="Alexandria Semi Bold" pitchFamily="34" charset="0"/>
                <a:ea typeface="Alexandria Semi Bold" pitchFamily="34" charset="-122"/>
                <a:cs typeface="Alexandria Semi Bold" pitchFamily="34" charset="-120"/>
              </a:rPr>
              <a:t>2</a:t>
            </a:r>
            <a:endParaRPr lang="en-US" sz="2400" dirty="0"/>
          </a:p>
        </p:txBody>
      </p:sp>
      <p:sp>
        <p:nvSpPr>
          <p:cNvPr id="9" name="Text 7"/>
          <p:cNvSpPr/>
          <p:nvPr/>
        </p:nvSpPr>
        <p:spPr>
          <a:xfrm>
            <a:off x="1307663" y="2976801"/>
            <a:ext cx="3726180" cy="31861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500"/>
              </a:lnSpc>
              <a:buNone/>
            </a:pPr>
            <a:r>
              <a:rPr lang="en-US" sz="2000" dirty="0">
                <a:solidFill>
                  <a:srgbClr val="3B3535"/>
                </a:solidFill>
                <a:latin typeface="Alexandria Semi Bold" pitchFamily="34" charset="0"/>
                <a:ea typeface="Alexandria Semi Bold" pitchFamily="34" charset="-122"/>
                <a:cs typeface="Alexandria Semi Bold" pitchFamily="34" charset="-120"/>
              </a:rPr>
              <a:t>Синтаксический анализ (AST)</a:t>
            </a:r>
            <a:endParaRPr lang="en-US" sz="2000" dirty="0"/>
          </a:p>
        </p:txBody>
      </p:sp>
      <p:sp>
        <p:nvSpPr>
          <p:cNvPr id="10" name="Shape 8"/>
          <p:cNvSpPr/>
          <p:nvPr/>
        </p:nvSpPr>
        <p:spPr>
          <a:xfrm>
            <a:off x="678061" y="3733562"/>
            <a:ext cx="435888" cy="435888"/>
          </a:xfrm>
          <a:prstGeom prst="roundRect">
            <a:avLst>
              <a:gd name="adj" fmla="val 18669"/>
            </a:avLst>
          </a:prstGeom>
          <a:solidFill>
            <a:srgbClr val="D5DCF6"/>
          </a:solidFill>
          <a:ln w="7620">
            <a:solidFill>
              <a:srgbClr val="BBC2DC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743010" y="3760291"/>
            <a:ext cx="305872" cy="38231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2400"/>
              </a:lnSpc>
              <a:buNone/>
            </a:pPr>
            <a:r>
              <a:rPr lang="en-US" sz="2400" dirty="0">
                <a:solidFill>
                  <a:srgbClr val="3B3535"/>
                </a:solidFill>
                <a:latin typeface="Alexandria Semi Bold" pitchFamily="34" charset="0"/>
                <a:ea typeface="Alexandria Semi Bold" pitchFamily="34" charset="-122"/>
                <a:cs typeface="Alexandria Semi Bold" pitchFamily="34" charset="-120"/>
              </a:rPr>
              <a:t>3</a:t>
            </a:r>
            <a:endParaRPr lang="en-US" sz="2400" dirty="0"/>
          </a:p>
        </p:txBody>
      </p:sp>
      <p:sp>
        <p:nvSpPr>
          <p:cNvPr id="12" name="Text 10"/>
          <p:cNvSpPr/>
          <p:nvPr/>
        </p:nvSpPr>
        <p:spPr>
          <a:xfrm>
            <a:off x="1307663" y="3800118"/>
            <a:ext cx="7704653" cy="31861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500"/>
              </a:lnSpc>
              <a:buNone/>
            </a:pPr>
            <a:r>
              <a:rPr lang="en-US" sz="2000" dirty="0">
                <a:solidFill>
                  <a:srgbClr val="3B3535"/>
                </a:solidFill>
                <a:latin typeface="Alexandria Semi Bold" pitchFamily="34" charset="0"/>
                <a:ea typeface="Alexandria Semi Bold" pitchFamily="34" charset="-122"/>
                <a:cs typeface="Alexandria Semi Bold" pitchFamily="34" charset="-120"/>
              </a:rPr>
              <a:t>Семантический анализ (типы, области видимости) — </a:t>
            </a:r>
            <a:r>
              <a:rPr lang="en-US" sz="2000" dirty="0">
                <a:solidFill>
                  <a:srgbClr val="1A2D7A"/>
                </a:solidFill>
                <a:latin typeface="Alexandria Semi Bold" pitchFamily="34" charset="0"/>
                <a:ea typeface="Alexandria Semi Bold" pitchFamily="34" charset="-122"/>
                <a:cs typeface="Alexandria Semi Bold" pitchFamily="34" charset="-120"/>
              </a:rPr>
              <a:t>+3 балла</a:t>
            </a:r>
            <a:endParaRPr lang="en-US" sz="2000" dirty="0"/>
          </a:p>
        </p:txBody>
      </p:sp>
      <p:sp>
        <p:nvSpPr>
          <p:cNvPr id="13" name="Shape 11"/>
          <p:cNvSpPr/>
          <p:nvPr/>
        </p:nvSpPr>
        <p:spPr>
          <a:xfrm>
            <a:off x="678061" y="4556879"/>
            <a:ext cx="435888" cy="435888"/>
          </a:xfrm>
          <a:prstGeom prst="roundRect">
            <a:avLst>
              <a:gd name="adj" fmla="val 18669"/>
            </a:avLst>
          </a:prstGeom>
          <a:solidFill>
            <a:srgbClr val="D5DCF6"/>
          </a:solidFill>
          <a:ln w="7620">
            <a:solidFill>
              <a:srgbClr val="BBC2DC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743010" y="4583609"/>
            <a:ext cx="305872" cy="38231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2400"/>
              </a:lnSpc>
              <a:buNone/>
            </a:pPr>
            <a:r>
              <a:rPr lang="en-US" sz="2400" dirty="0">
                <a:solidFill>
                  <a:srgbClr val="3B3535"/>
                </a:solidFill>
                <a:latin typeface="Alexandria Semi Bold" pitchFamily="34" charset="0"/>
                <a:ea typeface="Alexandria Semi Bold" pitchFamily="34" charset="-122"/>
                <a:cs typeface="Alexandria Semi Bold" pitchFamily="34" charset="-120"/>
              </a:rPr>
              <a:t>4</a:t>
            </a:r>
            <a:endParaRPr lang="en-US" sz="2400" dirty="0"/>
          </a:p>
        </p:txBody>
      </p:sp>
      <p:sp>
        <p:nvSpPr>
          <p:cNvPr id="15" name="Text 13"/>
          <p:cNvSpPr/>
          <p:nvPr/>
        </p:nvSpPr>
        <p:spPr>
          <a:xfrm>
            <a:off x="1307663" y="4623435"/>
            <a:ext cx="6274475" cy="31861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500"/>
              </a:lnSpc>
              <a:buNone/>
            </a:pPr>
            <a:r>
              <a:rPr lang="en-US" sz="2000" dirty="0">
                <a:solidFill>
                  <a:srgbClr val="3B3535"/>
                </a:solidFill>
                <a:latin typeface="Alexandria Semi Bold" pitchFamily="34" charset="0"/>
                <a:ea typeface="Alexandria Semi Bold" pitchFamily="34" charset="-122"/>
                <a:cs typeface="Alexandria Semi Bold" pitchFamily="34" charset="-120"/>
              </a:rPr>
              <a:t>Генерация трехадресного кода (TAC) — </a:t>
            </a:r>
            <a:r>
              <a:rPr lang="en-US" sz="2000" dirty="0">
                <a:solidFill>
                  <a:srgbClr val="1A2D7A"/>
                </a:solidFill>
                <a:latin typeface="Alexandria Semi Bold" pitchFamily="34" charset="0"/>
                <a:ea typeface="Alexandria Semi Bold" pitchFamily="34" charset="-122"/>
                <a:cs typeface="Alexandria Semi Bold" pitchFamily="34" charset="-120"/>
              </a:rPr>
              <a:t>+15 баллов</a:t>
            </a:r>
            <a:endParaRPr lang="en-US" sz="2000" dirty="0"/>
          </a:p>
        </p:txBody>
      </p:sp>
      <p:sp>
        <p:nvSpPr>
          <p:cNvPr id="16" name="Shape 14"/>
          <p:cNvSpPr/>
          <p:nvPr/>
        </p:nvSpPr>
        <p:spPr>
          <a:xfrm>
            <a:off x="678061" y="5380196"/>
            <a:ext cx="435888" cy="435888"/>
          </a:xfrm>
          <a:prstGeom prst="roundRect">
            <a:avLst>
              <a:gd name="adj" fmla="val 18669"/>
            </a:avLst>
          </a:prstGeom>
          <a:solidFill>
            <a:srgbClr val="D5DCF6"/>
          </a:solidFill>
          <a:ln w="7620">
            <a:solidFill>
              <a:srgbClr val="BBC2DC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743010" y="5406926"/>
            <a:ext cx="305872" cy="38231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2400"/>
              </a:lnSpc>
              <a:buNone/>
            </a:pPr>
            <a:r>
              <a:rPr lang="en-US" sz="2400" dirty="0">
                <a:solidFill>
                  <a:srgbClr val="3B3535"/>
                </a:solidFill>
                <a:latin typeface="Alexandria Semi Bold" pitchFamily="34" charset="0"/>
                <a:ea typeface="Alexandria Semi Bold" pitchFamily="34" charset="-122"/>
                <a:cs typeface="Alexandria Semi Bold" pitchFamily="34" charset="-120"/>
              </a:rPr>
              <a:t>5</a:t>
            </a:r>
            <a:endParaRPr lang="en-US" sz="2400" dirty="0"/>
          </a:p>
        </p:txBody>
      </p:sp>
      <p:sp>
        <p:nvSpPr>
          <p:cNvPr id="18" name="Text 16"/>
          <p:cNvSpPr/>
          <p:nvPr/>
        </p:nvSpPr>
        <p:spPr>
          <a:xfrm>
            <a:off x="1307663" y="5446752"/>
            <a:ext cx="6941582" cy="31861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500"/>
              </a:lnSpc>
              <a:buNone/>
            </a:pPr>
            <a:r>
              <a:rPr lang="en-US" sz="2000" dirty="0">
                <a:solidFill>
                  <a:srgbClr val="3B3535"/>
                </a:solidFill>
                <a:latin typeface="Alexandria Semi Bold" pitchFamily="34" charset="0"/>
                <a:ea typeface="Alexandria Semi Bold" pitchFamily="34" charset="-122"/>
                <a:cs typeface="Alexandria Semi Bold" pitchFamily="34" charset="-120"/>
              </a:rPr>
              <a:t>Оптимизация (dead code, constant folding) — </a:t>
            </a:r>
            <a:r>
              <a:rPr lang="en-US" sz="2000" dirty="0">
                <a:solidFill>
                  <a:srgbClr val="1A2D7A"/>
                </a:solidFill>
                <a:latin typeface="Alexandria Semi Bold" pitchFamily="34" charset="0"/>
                <a:ea typeface="Alexandria Semi Bold" pitchFamily="34" charset="-122"/>
                <a:cs typeface="Alexandria Semi Bold" pitchFamily="34" charset="-120"/>
              </a:rPr>
              <a:t>+4 балла</a:t>
            </a:r>
            <a:endParaRPr lang="en-US" sz="2000" dirty="0"/>
          </a:p>
        </p:txBody>
      </p:sp>
      <p:sp>
        <p:nvSpPr>
          <p:cNvPr id="19" name="Shape 17"/>
          <p:cNvSpPr/>
          <p:nvPr/>
        </p:nvSpPr>
        <p:spPr>
          <a:xfrm>
            <a:off x="678061" y="6203513"/>
            <a:ext cx="435888" cy="435888"/>
          </a:xfrm>
          <a:prstGeom prst="roundRect">
            <a:avLst>
              <a:gd name="adj" fmla="val 18669"/>
            </a:avLst>
          </a:prstGeom>
          <a:solidFill>
            <a:srgbClr val="D5DCF6"/>
          </a:solidFill>
          <a:ln w="7620">
            <a:solidFill>
              <a:srgbClr val="BBC2DC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743010" y="6230243"/>
            <a:ext cx="305872" cy="38231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2400"/>
              </a:lnSpc>
              <a:buNone/>
            </a:pPr>
            <a:r>
              <a:rPr lang="en-US" sz="2400" dirty="0">
                <a:solidFill>
                  <a:srgbClr val="3B3535"/>
                </a:solidFill>
                <a:latin typeface="Alexandria Semi Bold" pitchFamily="34" charset="0"/>
                <a:ea typeface="Alexandria Semi Bold" pitchFamily="34" charset="-122"/>
                <a:cs typeface="Alexandria Semi Bold" pitchFamily="34" charset="-120"/>
              </a:rPr>
              <a:t>6</a:t>
            </a:r>
            <a:endParaRPr lang="en-US" sz="2400" dirty="0"/>
          </a:p>
        </p:txBody>
      </p:sp>
      <p:sp>
        <p:nvSpPr>
          <p:cNvPr id="21" name="Text 19"/>
          <p:cNvSpPr/>
          <p:nvPr/>
        </p:nvSpPr>
        <p:spPr>
          <a:xfrm>
            <a:off x="1307663" y="6270069"/>
            <a:ext cx="2549247" cy="31861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500"/>
              </a:lnSpc>
              <a:buNone/>
            </a:pPr>
            <a:r>
              <a:rPr lang="en-US" sz="2000" dirty="0">
                <a:solidFill>
                  <a:srgbClr val="3B3535"/>
                </a:solidFill>
                <a:latin typeface="Alexandria Semi Bold" pitchFamily="34" charset="0"/>
                <a:ea typeface="Alexandria Semi Bold" pitchFamily="34" charset="-122"/>
                <a:cs typeface="Alexandria Semi Bold" pitchFamily="34" charset="-120"/>
              </a:rPr>
              <a:t>Интерпретация TAC</a:t>
            </a:r>
            <a:endParaRPr lang="en-US" sz="2000" dirty="0"/>
          </a:p>
        </p:txBody>
      </p:sp>
      <p:sp>
        <p:nvSpPr>
          <p:cNvPr id="22" name="Text 20"/>
          <p:cNvSpPr/>
          <p:nvPr/>
        </p:nvSpPr>
        <p:spPr>
          <a:xfrm>
            <a:off x="678061" y="6857286"/>
            <a:ext cx="13274278" cy="30992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400"/>
              </a:lnSpc>
              <a:buNone/>
            </a:pPr>
            <a:r>
              <a:rPr lang="en-US" sz="1500" dirty="0">
                <a:solidFill>
                  <a:srgbClr val="3B3535"/>
                </a:solidFill>
                <a:latin typeface="Sora Light" pitchFamily="34" charset="0"/>
                <a:ea typeface="Sora Light" pitchFamily="34" charset="-122"/>
                <a:cs typeface="Sora Light" pitchFamily="34" charset="-120"/>
              </a:rPr>
              <a:t>Поддержка языка: int/bool, арифметика (+-\*/%), логика (&amp;&amp;||!), сравнения (==&lt;&gt;), if/while/for, print().</a:t>
            </a:r>
            <a:endParaRPr lang="en-US" sz="1500" dirty="0"/>
          </a:p>
        </p:txBody>
      </p:sp>
      <p:sp>
        <p:nvSpPr>
          <p:cNvPr id="23" name="Text 21"/>
          <p:cNvSpPr/>
          <p:nvPr/>
        </p:nvSpPr>
        <p:spPr>
          <a:xfrm>
            <a:off x="678061" y="7385090"/>
            <a:ext cx="13274278" cy="30992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400"/>
              </a:lnSpc>
              <a:buNone/>
            </a:pPr>
            <a:r>
              <a:rPr lang="en-US" sz="1500" dirty="0">
                <a:solidFill>
                  <a:srgbClr val="3B3535"/>
                </a:solidFill>
                <a:latin typeface="Sora Light" pitchFamily="34" charset="0"/>
                <a:ea typeface="Sora Light" pitchFamily="34" charset="-122"/>
                <a:cs typeface="Sora Light" pitchFamily="34" charset="-120"/>
              </a:rPr>
              <a:t>Грамматика: Рекурсивно-спусковая (LL(1)), см. отчет для BNF.</a:t>
            </a:r>
            <a:endParaRPr lang="en-US" sz="1500" dirty="0"/>
          </a:p>
        </p:txBody>
      </p:sp>
      <p:sp>
        <p:nvSpPr>
          <p:cNvPr id="24" name="Прямоугольник 23">
            <a:extLst>
              <a:ext uri="{FF2B5EF4-FFF2-40B4-BE49-F238E27FC236}">
                <a16:creationId xmlns:a16="http://schemas.microsoft.com/office/drawing/2014/main" id="{453AB19B-6DAC-4C32-8805-BA2D2A571A70}"/>
              </a:ext>
            </a:extLst>
          </p:cNvPr>
          <p:cNvSpPr/>
          <p:nvPr/>
        </p:nvSpPr>
        <p:spPr>
          <a:xfrm>
            <a:off x="12562114" y="7478486"/>
            <a:ext cx="2068286" cy="729922"/>
          </a:xfrm>
          <a:prstGeom prst="rect">
            <a:avLst/>
          </a:prstGeom>
          <a:solidFill>
            <a:srgbClr val="FFFAFA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19946" y="408503"/>
            <a:ext cx="5016818" cy="48875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3800"/>
              </a:lnSpc>
              <a:buNone/>
            </a:pPr>
            <a:r>
              <a:rPr lang="en-US" sz="3050" dirty="0">
                <a:solidFill>
                  <a:srgbClr val="1F1E1E"/>
                </a:solidFill>
                <a:latin typeface="Alexandria Semi Bold" pitchFamily="34" charset="0"/>
                <a:ea typeface="Alexandria Semi Bold" pitchFamily="34" charset="-122"/>
                <a:cs typeface="Alexandria Semi Bold" pitchFamily="34" charset="-120"/>
              </a:rPr>
              <a:t>Архитектура компилятора</a:t>
            </a:r>
            <a:endParaRPr lang="en-US" sz="3050" dirty="0"/>
          </a:p>
        </p:txBody>
      </p:sp>
      <p:sp>
        <p:nvSpPr>
          <p:cNvPr id="3" name="Text 1"/>
          <p:cNvSpPr/>
          <p:nvPr/>
        </p:nvSpPr>
        <p:spPr>
          <a:xfrm>
            <a:off x="519946" y="1194316"/>
            <a:ext cx="13590508" cy="2376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850"/>
              </a:lnSpc>
              <a:buNone/>
            </a:pPr>
            <a:r>
              <a:rPr lang="en-US" sz="1150" dirty="0">
                <a:solidFill>
                  <a:srgbClr val="3B3535"/>
                </a:solidFill>
                <a:latin typeface="Sora Light" pitchFamily="34" charset="0"/>
                <a:ea typeface="Sora Light" pitchFamily="34" charset="-122"/>
                <a:cs typeface="Sora Light" pitchFamily="34" charset="-120"/>
              </a:rPr>
              <a:t>Модульная структура (4 основных компонента):</a:t>
            </a:r>
            <a:endParaRPr lang="en-US" sz="1150" dirty="0"/>
          </a:p>
        </p:txBody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5965" y="1231344"/>
            <a:ext cx="13478470" cy="5812274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1308648" y="6008949"/>
            <a:ext cx="3218584" cy="4024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750"/>
              </a:lnSpc>
              <a:buNone/>
            </a:pPr>
            <a:r>
              <a:rPr lang="en-US" sz="1400" dirty="0">
                <a:solidFill>
                  <a:srgbClr val="FFFFFF"/>
                </a:solidFill>
                <a:latin typeface="Alexandria Semi Bold" pitchFamily="34" charset="0"/>
                <a:ea typeface="Alexandria Semi Bold" pitchFamily="34" charset="-122"/>
                <a:cs typeface="Alexandria Semi Bold" pitchFamily="34" charset="-120"/>
              </a:rPr>
              <a:t>CodeGen</a:t>
            </a:r>
            <a:endParaRPr lang="en-US" sz="1400" dirty="0"/>
          </a:p>
        </p:txBody>
      </p:sp>
      <p:sp>
        <p:nvSpPr>
          <p:cNvPr id="6" name="Text 3"/>
          <p:cNvSpPr/>
          <p:nvPr/>
        </p:nvSpPr>
        <p:spPr>
          <a:xfrm>
            <a:off x="1308648" y="4663502"/>
            <a:ext cx="3218584" cy="40240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750"/>
              </a:lnSpc>
              <a:buNone/>
            </a:pPr>
            <a:r>
              <a:rPr lang="en-US" sz="1400" dirty="0">
                <a:solidFill>
                  <a:srgbClr val="FFFFFF"/>
                </a:solidFill>
                <a:latin typeface="Alexandria Semi Bold" pitchFamily="34" charset="0"/>
                <a:ea typeface="Alexandria Semi Bold" pitchFamily="34" charset="-122"/>
                <a:cs typeface="Alexandria Semi Bold" pitchFamily="34" charset="-120"/>
              </a:rPr>
              <a:t>Semantic Analyzer</a:t>
            </a:r>
            <a:endParaRPr lang="en-US" sz="1400" dirty="0"/>
          </a:p>
        </p:txBody>
      </p:sp>
      <p:sp>
        <p:nvSpPr>
          <p:cNvPr id="7" name="Text 4"/>
          <p:cNvSpPr/>
          <p:nvPr/>
        </p:nvSpPr>
        <p:spPr>
          <a:xfrm>
            <a:off x="1308648" y="3318055"/>
            <a:ext cx="3218584" cy="40240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750"/>
              </a:lnSpc>
              <a:buNone/>
            </a:pPr>
            <a:r>
              <a:rPr lang="en-US" sz="1400" dirty="0">
                <a:solidFill>
                  <a:srgbClr val="FFFFFF"/>
                </a:solidFill>
                <a:latin typeface="Alexandria Semi Bold" pitchFamily="34" charset="0"/>
                <a:ea typeface="Alexandria Semi Bold" pitchFamily="34" charset="-122"/>
                <a:cs typeface="Alexandria Semi Bold" pitchFamily="34" charset="-120"/>
              </a:rPr>
              <a:t>Parser</a:t>
            </a:r>
            <a:endParaRPr lang="en-US" sz="1400" dirty="0"/>
          </a:p>
        </p:txBody>
      </p:sp>
      <p:sp>
        <p:nvSpPr>
          <p:cNvPr id="8" name="Text 5"/>
          <p:cNvSpPr/>
          <p:nvPr/>
        </p:nvSpPr>
        <p:spPr>
          <a:xfrm>
            <a:off x="1308648" y="1972607"/>
            <a:ext cx="3218584" cy="4024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750"/>
              </a:lnSpc>
              <a:buNone/>
            </a:pPr>
            <a:r>
              <a:rPr lang="en-US" sz="1400" dirty="0">
                <a:solidFill>
                  <a:srgbClr val="FFFFFF"/>
                </a:solidFill>
                <a:latin typeface="Alexandria Semi Bold" pitchFamily="34" charset="0"/>
                <a:ea typeface="Alexandria Semi Bold" pitchFamily="34" charset="-122"/>
                <a:cs typeface="Alexandria Semi Bold" pitchFamily="34" charset="-120"/>
              </a:rPr>
              <a:t>Lexer</a:t>
            </a:r>
            <a:endParaRPr lang="en-US" sz="1400" dirty="0"/>
          </a:p>
        </p:txBody>
      </p:sp>
      <p:sp>
        <p:nvSpPr>
          <p:cNvPr id="9" name="Text 6"/>
          <p:cNvSpPr/>
          <p:nvPr/>
        </p:nvSpPr>
        <p:spPr>
          <a:xfrm>
            <a:off x="519946" y="6807259"/>
            <a:ext cx="13590508" cy="2376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1850"/>
              </a:lnSpc>
              <a:buSzPct val="100000"/>
              <a:buChar char="•"/>
            </a:pPr>
            <a:r>
              <a:rPr lang="en-US" sz="1150" b="1" dirty="0">
                <a:solidFill>
                  <a:srgbClr val="3B3535"/>
                </a:solidFill>
                <a:latin typeface="Sora Light" pitchFamily="34" charset="0"/>
                <a:ea typeface="Sora Light" pitchFamily="34" charset="-122"/>
                <a:cs typeface="Sora Light" pitchFamily="34" charset="-120"/>
              </a:rPr>
              <a:t>Lexer (из ЛР1):</a:t>
            </a:r>
            <a:r>
              <a:rPr lang="en-US" sz="1150" dirty="0">
                <a:solidFill>
                  <a:srgbClr val="3B3535"/>
                </a:solidFill>
                <a:latin typeface="Sora Light" pitchFamily="34" charset="0"/>
                <a:ea typeface="Sora Light" pitchFamily="34" charset="-122"/>
                <a:cs typeface="Sora Light" pitchFamily="34" charset="-120"/>
              </a:rPr>
              <a:t> Токены, ключевые слова (O(1) хеш), операторы (O(log n)), комментарии.</a:t>
            </a:r>
            <a:endParaRPr lang="en-US" sz="1150" dirty="0"/>
          </a:p>
        </p:txBody>
      </p:sp>
      <p:sp>
        <p:nvSpPr>
          <p:cNvPr id="10" name="Text 7"/>
          <p:cNvSpPr/>
          <p:nvPr/>
        </p:nvSpPr>
        <p:spPr>
          <a:xfrm>
            <a:off x="519946" y="7096819"/>
            <a:ext cx="13590508" cy="2376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1850"/>
              </a:lnSpc>
              <a:buSzPct val="100000"/>
              <a:buChar char="•"/>
            </a:pPr>
            <a:r>
              <a:rPr lang="en-US" sz="1150" b="1" dirty="0">
                <a:solidFill>
                  <a:srgbClr val="3B3535"/>
                </a:solidFill>
                <a:latin typeface="Sora Light" pitchFamily="34" charset="0"/>
                <a:ea typeface="Sora Light" pitchFamily="34" charset="-122"/>
                <a:cs typeface="Sora Light" pitchFamily="34" charset="-120"/>
              </a:rPr>
              <a:t>Parser:</a:t>
            </a:r>
            <a:r>
              <a:rPr lang="en-US" sz="1150" dirty="0">
                <a:solidFill>
                  <a:srgbClr val="3B3535"/>
                </a:solidFill>
                <a:latin typeface="Sora Light" pitchFamily="34" charset="0"/>
                <a:ea typeface="Sora Light" pitchFamily="34" charset="-122"/>
                <a:cs typeface="Sora Light" pitchFamily="34" charset="-120"/>
              </a:rPr>
              <a:t> Рекурсивный спуск, AST-узлы с типами/позициями.</a:t>
            </a:r>
            <a:endParaRPr lang="en-US" sz="1150" dirty="0"/>
          </a:p>
        </p:txBody>
      </p:sp>
      <p:sp>
        <p:nvSpPr>
          <p:cNvPr id="11" name="Text 8"/>
          <p:cNvSpPr/>
          <p:nvPr/>
        </p:nvSpPr>
        <p:spPr>
          <a:xfrm>
            <a:off x="519946" y="7386379"/>
            <a:ext cx="13590508" cy="2376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1850"/>
              </a:lnSpc>
              <a:buSzPct val="100000"/>
              <a:buChar char="•"/>
            </a:pPr>
            <a:r>
              <a:rPr lang="en-US" sz="1150" b="1" dirty="0">
                <a:solidFill>
                  <a:srgbClr val="3B3535"/>
                </a:solidFill>
                <a:latin typeface="Sora Light" pitchFamily="34" charset="0"/>
                <a:ea typeface="Sora Light" pitchFamily="34" charset="-122"/>
                <a:cs typeface="Sora Light" pitchFamily="34" charset="-120"/>
              </a:rPr>
              <a:t>Semantic:</a:t>
            </a:r>
            <a:r>
              <a:rPr lang="en-US" sz="1150" dirty="0">
                <a:solidFill>
                  <a:srgbClr val="3B3535"/>
                </a:solidFill>
                <a:latin typeface="Sora Light" pitchFamily="34" charset="0"/>
                <a:ea typeface="Sora Light" pitchFamily="34" charset="-122"/>
                <a:cs typeface="Sora Light" pitchFamily="34" charset="-120"/>
              </a:rPr>
              <a:t> Таблица символов, проверка типов/видимости.</a:t>
            </a:r>
            <a:endParaRPr lang="en-US" sz="1150" dirty="0"/>
          </a:p>
        </p:txBody>
      </p:sp>
      <p:sp>
        <p:nvSpPr>
          <p:cNvPr id="12" name="Text 9"/>
          <p:cNvSpPr/>
          <p:nvPr/>
        </p:nvSpPr>
        <p:spPr>
          <a:xfrm>
            <a:off x="519946" y="7675939"/>
            <a:ext cx="13590508" cy="2376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1850"/>
              </a:lnSpc>
              <a:buSzPct val="100000"/>
              <a:buChar char="•"/>
            </a:pPr>
            <a:r>
              <a:rPr lang="en-US" sz="1150" b="1" dirty="0">
                <a:solidFill>
                  <a:srgbClr val="3B3535"/>
                </a:solidFill>
                <a:latin typeface="Sora Light" pitchFamily="34" charset="0"/>
                <a:ea typeface="Sora Light" pitchFamily="34" charset="-122"/>
                <a:cs typeface="Sora Light" pitchFamily="34" charset="-120"/>
              </a:rPr>
              <a:t>CLI:</a:t>
            </a:r>
            <a:r>
              <a:rPr lang="en-US" sz="1150" dirty="0">
                <a:solidFill>
                  <a:srgbClr val="3B3535"/>
                </a:solidFill>
                <a:latin typeface="Sora Light" pitchFamily="34" charset="0"/>
                <a:ea typeface="Sora Light" pitchFamily="34" charset="-122"/>
                <a:cs typeface="Sora Light" pitchFamily="34" charset="-120"/>
              </a:rPr>
              <a:t> -tokens, -ast, -noopt, -o file.</a:t>
            </a:r>
            <a:endParaRPr lang="en-US" sz="1150" dirty="0"/>
          </a:p>
        </p:txBody>
      </p:sp>
      <p:sp>
        <p:nvSpPr>
          <p:cNvPr id="13" name="Text 10"/>
          <p:cNvSpPr/>
          <p:nvPr/>
        </p:nvSpPr>
        <p:spPr>
          <a:xfrm>
            <a:off x="519946" y="7965499"/>
            <a:ext cx="13590508" cy="2376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1850"/>
              </a:lnSpc>
              <a:buSzPct val="100000"/>
              <a:buChar char="•"/>
            </a:pPr>
            <a:r>
              <a:rPr lang="en-US" sz="1150" b="1" dirty="0">
                <a:solidFill>
                  <a:srgbClr val="3B3535"/>
                </a:solidFill>
                <a:latin typeface="Sora Light" pitchFamily="34" charset="0"/>
                <a:ea typeface="Sora Light" pitchFamily="34" charset="-122"/>
                <a:cs typeface="Sora Light" pitchFamily="34" charset="-120"/>
              </a:rPr>
              <a:t>AST-узел:</a:t>
            </a:r>
            <a:r>
              <a:rPr lang="en-US" sz="1150" dirty="0">
                <a:solidFill>
                  <a:srgbClr val="3B3535"/>
                </a:solidFill>
                <a:latin typeface="Sora Light" pitchFamily="34" charset="0"/>
                <a:ea typeface="Sora Light" pitchFamily="34" charset="-122"/>
                <a:cs typeface="Sora Light" pitchFamily="34" charset="-120"/>
              </a:rPr>
              <a:t> type, value, children, line/col, dataType.</a:t>
            </a:r>
            <a:endParaRPr lang="en-US" sz="1150" dirty="0"/>
          </a:p>
        </p:txBody>
      </p:sp>
      <p:sp>
        <p:nvSpPr>
          <p:cNvPr id="14" name="Прямоугольник 13">
            <a:extLst>
              <a:ext uri="{FF2B5EF4-FFF2-40B4-BE49-F238E27FC236}">
                <a16:creationId xmlns:a16="http://schemas.microsoft.com/office/drawing/2014/main" id="{48BC423F-4AAD-48CC-B506-99BC909672DF}"/>
              </a:ext>
            </a:extLst>
          </p:cNvPr>
          <p:cNvSpPr/>
          <p:nvPr/>
        </p:nvSpPr>
        <p:spPr>
          <a:xfrm>
            <a:off x="12618720" y="7473226"/>
            <a:ext cx="2011680" cy="729922"/>
          </a:xfrm>
          <a:prstGeom prst="rect">
            <a:avLst/>
          </a:prstGeom>
          <a:solidFill>
            <a:srgbClr val="FFFAFA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22828" y="745212"/>
            <a:ext cx="9868495" cy="67937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5300"/>
              </a:lnSpc>
              <a:buNone/>
            </a:pPr>
            <a:r>
              <a:rPr lang="en-US" sz="4250" dirty="0">
                <a:solidFill>
                  <a:srgbClr val="1F1E1E"/>
                </a:solidFill>
                <a:latin typeface="Alexandria Semi Bold" pitchFamily="34" charset="0"/>
                <a:ea typeface="Alexandria Semi Bold" pitchFamily="34" charset="-122"/>
                <a:cs typeface="Alexandria Semi Bold" pitchFamily="34" charset="-120"/>
              </a:rPr>
              <a:t>Генерация трехадресного кода (TAC)</a:t>
            </a:r>
            <a:endParaRPr lang="en-US" sz="4250" dirty="0"/>
          </a:p>
        </p:txBody>
      </p:sp>
      <p:sp>
        <p:nvSpPr>
          <p:cNvPr id="3" name="Text 1"/>
          <p:cNvSpPr/>
          <p:nvPr/>
        </p:nvSpPr>
        <p:spPr>
          <a:xfrm>
            <a:off x="722828" y="1837611"/>
            <a:ext cx="13184743" cy="33051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600"/>
              </a:lnSpc>
              <a:buNone/>
            </a:pPr>
            <a:r>
              <a:rPr lang="en-US" sz="1600" dirty="0">
                <a:solidFill>
                  <a:srgbClr val="3B3535"/>
                </a:solidFill>
                <a:latin typeface="Sora Light" pitchFamily="34" charset="0"/>
                <a:ea typeface="Sora Light" pitchFamily="34" charset="-122"/>
                <a:cs typeface="Sora Light" pitchFamily="34" charset="-120"/>
              </a:rPr>
              <a:t>TAC — промежуточное представление (≤3 операнда):</a:t>
            </a:r>
            <a:endParaRPr lang="en-US" sz="1600" dirty="0"/>
          </a:p>
        </p:txBody>
      </p:sp>
      <p:sp>
        <p:nvSpPr>
          <p:cNvPr id="4" name="Shape 2"/>
          <p:cNvSpPr/>
          <p:nvPr/>
        </p:nvSpPr>
        <p:spPr>
          <a:xfrm>
            <a:off x="722828" y="2400419"/>
            <a:ext cx="13184743" cy="1962150"/>
          </a:xfrm>
          <a:prstGeom prst="roundRect">
            <a:avLst>
              <a:gd name="adj" fmla="val 4421"/>
            </a:avLst>
          </a:prstGeom>
          <a:solidFill>
            <a:srgbClr val="F2EDED"/>
          </a:solidFill>
          <a:ln/>
        </p:spPr>
      </p:sp>
      <p:sp>
        <p:nvSpPr>
          <p:cNvPr id="5" name="Shape 3"/>
          <p:cNvSpPr/>
          <p:nvPr/>
        </p:nvSpPr>
        <p:spPr>
          <a:xfrm>
            <a:off x="712589" y="2400419"/>
            <a:ext cx="13205222" cy="1962150"/>
          </a:xfrm>
          <a:prstGeom prst="roundRect">
            <a:avLst>
              <a:gd name="adj" fmla="val 1579"/>
            </a:avLst>
          </a:prstGeom>
          <a:solidFill>
            <a:srgbClr val="F2EDED"/>
          </a:solidFill>
          <a:ln/>
        </p:spPr>
      </p:sp>
      <p:sp>
        <p:nvSpPr>
          <p:cNvPr id="6" name="Text 4"/>
          <p:cNvSpPr/>
          <p:nvPr/>
        </p:nvSpPr>
        <p:spPr>
          <a:xfrm>
            <a:off x="919043" y="2555200"/>
            <a:ext cx="12792313" cy="16525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600"/>
              </a:lnSpc>
              <a:buNone/>
            </a:pPr>
            <a:r>
              <a:rPr lang="en-US" sz="1600" dirty="0">
                <a:solidFill>
                  <a:srgbClr val="3B3535"/>
                </a:solidFill>
                <a:highlight>
                  <a:srgbClr val="F2EDED"/>
                </a:highlight>
                <a:latin typeface="Consolas Light" pitchFamily="34" charset="0"/>
                <a:ea typeface="Consolas Light" pitchFamily="34" charset="-122"/>
                <a:cs typeface="Consolas Light" pitchFamily="34" charset="-120"/>
              </a:rPr>
              <a:t>t1 = a + b</a:t>
            </a:r>
            <a:endParaRPr lang="en-US" sz="1600" dirty="0"/>
          </a:p>
          <a:p>
            <a:pPr marL="0" indent="0" algn="l">
              <a:lnSpc>
                <a:spcPts val="2600"/>
              </a:lnSpc>
              <a:buNone/>
            </a:pPr>
            <a:r>
              <a:rPr lang="en-US" sz="1600" dirty="0">
                <a:solidFill>
                  <a:srgbClr val="3B3535"/>
                </a:solidFill>
                <a:highlight>
                  <a:srgbClr val="F2EDED"/>
                </a:highlight>
                <a:latin typeface="Consolas Light" pitchFamily="34" charset="0"/>
                <a:ea typeface="Consolas Light" pitchFamily="34" charset="-122"/>
                <a:cs typeface="Consolas Light" pitchFamily="34" charset="-120"/>
              </a:rPr>
              <a:t>t2 = -t1</a:t>
            </a:r>
            <a:endParaRPr lang="en-US" sz="1600" dirty="0"/>
          </a:p>
          <a:p>
            <a:pPr marL="0" indent="0" algn="l">
              <a:lnSpc>
                <a:spcPts val="2600"/>
              </a:lnSpc>
              <a:buNone/>
            </a:pPr>
            <a:r>
              <a:rPr lang="en-US" sz="1600" dirty="0">
                <a:solidFill>
                  <a:srgbClr val="3B3535"/>
                </a:solidFill>
                <a:highlight>
                  <a:srgbClr val="F2EDED"/>
                </a:highlight>
                <a:latin typeface="Consolas Light" pitchFamily="34" charset="0"/>
                <a:ea typeface="Consolas Light" pitchFamily="34" charset="-122"/>
                <a:cs typeface="Consolas Light" pitchFamily="34" charset="-120"/>
              </a:rPr>
              <a:t>if t1 goto L1</a:t>
            </a:r>
            <a:endParaRPr lang="en-US" sz="1600" dirty="0"/>
          </a:p>
          <a:p>
            <a:pPr marL="0" indent="0" algn="l">
              <a:lnSpc>
                <a:spcPts val="2600"/>
              </a:lnSpc>
              <a:buNone/>
            </a:pPr>
            <a:r>
              <a:rPr lang="en-US" sz="1600" dirty="0">
                <a:solidFill>
                  <a:srgbClr val="3B3535"/>
                </a:solidFill>
                <a:highlight>
                  <a:srgbClr val="F2EDED"/>
                </a:highlight>
                <a:latin typeface="Consolas Light" pitchFamily="34" charset="0"/>
                <a:ea typeface="Consolas Light" pitchFamily="34" charset="-122"/>
                <a:cs typeface="Consolas Light" pitchFamily="34" charset="-120"/>
              </a:rPr>
              <a:t>c = t2</a:t>
            </a:r>
            <a:endParaRPr lang="en-US" sz="1600" dirty="0"/>
          </a:p>
          <a:p>
            <a:pPr marL="0" indent="0" algn="l">
              <a:lnSpc>
                <a:spcPts val="2600"/>
              </a:lnSpc>
              <a:buNone/>
            </a:pPr>
            <a:r>
              <a:rPr lang="en-US" sz="1600" dirty="0">
                <a:solidFill>
                  <a:srgbClr val="3B3535"/>
                </a:solidFill>
                <a:highlight>
                  <a:srgbClr val="F2EDED"/>
                </a:highlight>
                <a:latin typeface="Consolas Light" pitchFamily="34" charset="0"/>
                <a:ea typeface="Consolas Light" pitchFamily="34" charset="-122"/>
                <a:cs typeface="Consolas Light" pitchFamily="34" charset="-120"/>
              </a:rPr>
              <a:t>print(c)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722828" y="4594860"/>
            <a:ext cx="13184743" cy="33051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600"/>
              </a:lnSpc>
              <a:buNone/>
            </a:pPr>
            <a:r>
              <a:rPr lang="en-US" sz="1600" dirty="0">
                <a:solidFill>
                  <a:srgbClr val="3B3535"/>
                </a:solidFill>
                <a:latin typeface="Sora Light" pitchFamily="34" charset="0"/>
                <a:ea typeface="Sora Light" pitchFamily="34" charset="-122"/>
                <a:cs typeface="Sora Light" pitchFamily="34" charset="-120"/>
              </a:rPr>
              <a:t>Алгоритм: Обход AST в глубину (post-order).</a:t>
            </a:r>
            <a:endParaRPr lang="en-US" sz="1600" dirty="0"/>
          </a:p>
        </p:txBody>
      </p:sp>
      <p:sp>
        <p:nvSpPr>
          <p:cNvPr id="8" name="Shape 6"/>
          <p:cNvSpPr/>
          <p:nvPr/>
        </p:nvSpPr>
        <p:spPr>
          <a:xfrm>
            <a:off x="722828" y="5157668"/>
            <a:ext cx="4257199" cy="798195"/>
          </a:xfrm>
          <a:prstGeom prst="roundRect">
            <a:avLst>
              <a:gd name="adj" fmla="val 13747"/>
            </a:avLst>
          </a:prstGeom>
          <a:solidFill>
            <a:srgbClr val="FFFAFA"/>
          </a:solidFill>
          <a:ln w="22860">
            <a:solidFill>
              <a:srgbClr val="BBC2DC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699968" y="5157668"/>
            <a:ext cx="91440" cy="798195"/>
          </a:xfrm>
          <a:prstGeom prst="roundRect">
            <a:avLst>
              <a:gd name="adj" fmla="val 94862"/>
            </a:avLst>
          </a:prstGeom>
          <a:solidFill>
            <a:srgbClr val="1A2D7A"/>
          </a:solidFill>
          <a:ln/>
        </p:spPr>
      </p:sp>
      <p:sp>
        <p:nvSpPr>
          <p:cNvPr id="10" name="Text 8"/>
          <p:cNvSpPr/>
          <p:nvPr/>
        </p:nvSpPr>
        <p:spPr>
          <a:xfrm>
            <a:off x="1020723" y="5386983"/>
            <a:ext cx="2717363" cy="33956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650"/>
              </a:lnSpc>
              <a:buNone/>
            </a:pPr>
            <a:r>
              <a:rPr lang="en-US" sz="2100" dirty="0">
                <a:solidFill>
                  <a:srgbClr val="3B3535"/>
                </a:solidFill>
                <a:latin typeface="Alexandria Semi Bold" pitchFamily="34" charset="0"/>
                <a:ea typeface="Alexandria Semi Bold" pitchFamily="34" charset="-122"/>
                <a:cs typeface="Alexandria Semi Bold" pitchFamily="34" charset="-120"/>
              </a:rPr>
              <a:t>newTemp() → t0, t1...</a:t>
            </a:r>
            <a:endParaRPr lang="en-US" sz="2100" dirty="0"/>
          </a:p>
        </p:txBody>
      </p:sp>
      <p:sp>
        <p:nvSpPr>
          <p:cNvPr id="11" name="Shape 9"/>
          <p:cNvSpPr/>
          <p:nvPr/>
        </p:nvSpPr>
        <p:spPr>
          <a:xfrm>
            <a:off x="5186482" y="5157668"/>
            <a:ext cx="4257318" cy="798195"/>
          </a:xfrm>
          <a:prstGeom prst="roundRect">
            <a:avLst>
              <a:gd name="adj" fmla="val 13747"/>
            </a:avLst>
          </a:prstGeom>
          <a:solidFill>
            <a:srgbClr val="FFFAFA"/>
          </a:solidFill>
          <a:ln w="22860">
            <a:solidFill>
              <a:srgbClr val="BBC2DC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5163622" y="5157668"/>
            <a:ext cx="91440" cy="798195"/>
          </a:xfrm>
          <a:prstGeom prst="roundRect">
            <a:avLst>
              <a:gd name="adj" fmla="val 94862"/>
            </a:avLst>
          </a:prstGeom>
          <a:solidFill>
            <a:srgbClr val="1A2D7A"/>
          </a:solidFill>
          <a:ln/>
        </p:spPr>
      </p:sp>
      <p:sp>
        <p:nvSpPr>
          <p:cNvPr id="13" name="Text 11"/>
          <p:cNvSpPr/>
          <p:nvPr/>
        </p:nvSpPr>
        <p:spPr>
          <a:xfrm>
            <a:off x="5484376" y="5386983"/>
            <a:ext cx="2751534" cy="33956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650"/>
              </a:lnSpc>
              <a:buNone/>
            </a:pPr>
            <a:r>
              <a:rPr lang="en-US" sz="2100" dirty="0">
                <a:solidFill>
                  <a:srgbClr val="3B3535"/>
                </a:solidFill>
                <a:latin typeface="Alexandria Semi Bold" pitchFamily="34" charset="0"/>
                <a:ea typeface="Alexandria Semi Bold" pitchFamily="34" charset="-122"/>
                <a:cs typeface="Alexandria Semi Bold" pitchFamily="34" charset="-120"/>
              </a:rPr>
              <a:t>newLabel() → L0, L1...</a:t>
            </a:r>
            <a:endParaRPr lang="en-US" sz="2100" dirty="0"/>
          </a:p>
        </p:txBody>
      </p:sp>
      <p:sp>
        <p:nvSpPr>
          <p:cNvPr id="14" name="Shape 12"/>
          <p:cNvSpPr/>
          <p:nvPr/>
        </p:nvSpPr>
        <p:spPr>
          <a:xfrm>
            <a:off x="9650254" y="5157668"/>
            <a:ext cx="4257199" cy="798195"/>
          </a:xfrm>
          <a:prstGeom prst="roundRect">
            <a:avLst>
              <a:gd name="adj" fmla="val 13747"/>
            </a:avLst>
          </a:prstGeom>
          <a:solidFill>
            <a:srgbClr val="FFFAFA"/>
          </a:solidFill>
          <a:ln w="22860">
            <a:solidFill>
              <a:srgbClr val="BBC2DC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9627394" y="5157668"/>
            <a:ext cx="91440" cy="798195"/>
          </a:xfrm>
          <a:prstGeom prst="roundRect">
            <a:avLst>
              <a:gd name="adj" fmla="val 94862"/>
            </a:avLst>
          </a:prstGeom>
          <a:solidFill>
            <a:srgbClr val="1A2D7A"/>
          </a:solidFill>
          <a:ln/>
        </p:spPr>
      </p:sp>
      <p:sp>
        <p:nvSpPr>
          <p:cNvPr id="16" name="Text 14"/>
          <p:cNvSpPr/>
          <p:nvPr/>
        </p:nvSpPr>
        <p:spPr>
          <a:xfrm>
            <a:off x="9948148" y="5386983"/>
            <a:ext cx="3550087" cy="33956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650"/>
              </a:lnSpc>
              <a:buNone/>
            </a:pPr>
            <a:r>
              <a:rPr lang="en-US" sz="2100" dirty="0">
                <a:solidFill>
                  <a:srgbClr val="3B3535"/>
                </a:solidFill>
                <a:latin typeface="Alexandria Semi Bold" pitchFamily="34" charset="0"/>
                <a:ea typeface="Alexandria Semi Bold" pitchFamily="34" charset="-122"/>
                <a:cs typeface="Alexandria Semi Bold" pitchFamily="34" charset="-120"/>
              </a:rPr>
              <a:t>emit(op, arg1, arg2, result)</a:t>
            </a:r>
            <a:endParaRPr lang="en-US" sz="2100" dirty="0"/>
          </a:p>
        </p:txBody>
      </p:sp>
      <p:sp>
        <p:nvSpPr>
          <p:cNvPr id="17" name="Text 15"/>
          <p:cNvSpPr/>
          <p:nvPr/>
        </p:nvSpPr>
        <p:spPr>
          <a:xfrm>
            <a:off x="722828" y="6188154"/>
            <a:ext cx="13184743" cy="33051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600"/>
              </a:lnSpc>
              <a:buNone/>
            </a:pPr>
            <a:r>
              <a:rPr lang="en-US" sz="1600" dirty="0">
                <a:solidFill>
                  <a:srgbClr val="3B3535"/>
                </a:solidFill>
                <a:latin typeface="Sora Light" pitchFamily="34" charset="0"/>
                <a:ea typeface="Sora Light" pitchFamily="34" charset="-122"/>
                <a:cs typeface="Sora Light" pitchFamily="34" charset="-120"/>
              </a:rPr>
              <a:t>Примеры: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722828" y="6750963"/>
            <a:ext cx="13184743" cy="33051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2600"/>
              </a:lnSpc>
              <a:buSzPct val="100000"/>
              <a:buChar char="•"/>
            </a:pPr>
            <a:r>
              <a:rPr lang="en-US" sz="1600" b="1" dirty="0">
                <a:solidFill>
                  <a:srgbClr val="3B3535"/>
                </a:solidFill>
                <a:latin typeface="Sora Light" pitchFamily="34" charset="0"/>
                <a:ea typeface="Sora Light" pitchFamily="34" charset="-122"/>
                <a:cs typeface="Sora Light" pitchFamily="34" charset="-120"/>
              </a:rPr>
              <a:t>BinOp:</a:t>
            </a:r>
            <a:r>
              <a:rPr lang="en-US" sz="1600" dirty="0">
                <a:solidFill>
                  <a:srgbClr val="3B3535"/>
                </a:solidFill>
                <a:latin typeface="Sora Light" pitchFamily="34" charset="0"/>
                <a:ea typeface="Sora Light" pitchFamily="34" charset="-122"/>
                <a:cs typeface="Sora Light" pitchFamily="34" charset="-120"/>
              </a:rPr>
              <a:t> temp = left op right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722828" y="7153751"/>
            <a:ext cx="13184743" cy="33051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2600"/>
              </a:lnSpc>
              <a:buSzPct val="100000"/>
              <a:buChar char="•"/>
            </a:pPr>
            <a:r>
              <a:rPr lang="en-US" sz="1600" b="1" dirty="0">
                <a:solidFill>
                  <a:srgbClr val="3B3535"/>
                </a:solidFill>
                <a:latin typeface="Sora Light" pitchFamily="34" charset="0"/>
                <a:ea typeface="Sora Light" pitchFamily="34" charset="-122"/>
                <a:cs typeface="Sora Light" pitchFamily="34" charset="-120"/>
              </a:rPr>
              <a:t>If:</a:t>
            </a:r>
            <a:r>
              <a:rPr lang="en-US" sz="1600" dirty="0">
                <a:solidFill>
                  <a:srgbClr val="3B3535"/>
                </a:solidFill>
                <a:latin typeface="Sora Light" pitchFamily="34" charset="0"/>
                <a:ea typeface="Sora Light" pitchFamily="34" charset="-122"/>
                <a:cs typeface="Sora Light" pitchFamily="34" charset="-120"/>
              </a:rPr>
              <a:t> ifz cond goto L_false; then; goto L_end; L_false: else; L_end:</a:t>
            </a:r>
            <a:endParaRPr lang="en-US" sz="1600" dirty="0"/>
          </a:p>
        </p:txBody>
      </p:sp>
      <p:sp>
        <p:nvSpPr>
          <p:cNvPr id="20" name="Прямоугольник 19">
            <a:extLst>
              <a:ext uri="{FF2B5EF4-FFF2-40B4-BE49-F238E27FC236}">
                <a16:creationId xmlns:a16="http://schemas.microsoft.com/office/drawing/2014/main" id="{FA935D13-2D73-4745-83F4-6F6DC0320E78}"/>
              </a:ext>
            </a:extLst>
          </p:cNvPr>
          <p:cNvSpPr/>
          <p:nvPr/>
        </p:nvSpPr>
        <p:spPr>
          <a:xfrm>
            <a:off x="12562114" y="7478486"/>
            <a:ext cx="2068286" cy="729922"/>
          </a:xfrm>
          <a:prstGeom prst="rect">
            <a:avLst/>
          </a:prstGeom>
          <a:solidFill>
            <a:srgbClr val="FFFAFA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58309" y="1687116"/>
            <a:ext cx="5701546" cy="71270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5600"/>
              </a:lnSpc>
              <a:buNone/>
            </a:pPr>
            <a:r>
              <a:rPr lang="en-US" sz="4450" dirty="0">
                <a:solidFill>
                  <a:srgbClr val="1F1E1E"/>
                </a:solidFill>
                <a:latin typeface="Alexandria Semi Bold" pitchFamily="34" charset="0"/>
                <a:ea typeface="Alexandria Semi Bold" pitchFamily="34" charset="-122"/>
                <a:cs typeface="Alexandria Semi Bold" pitchFamily="34" charset="-120"/>
              </a:rPr>
              <a:t>Оптимизация TAC</a:t>
            </a:r>
            <a:endParaRPr lang="en-US" sz="4450" dirty="0"/>
          </a:p>
        </p:txBody>
      </p:sp>
      <p:sp>
        <p:nvSpPr>
          <p:cNvPr id="3" name="Text 1"/>
          <p:cNvSpPr/>
          <p:nvPr/>
        </p:nvSpPr>
        <p:spPr>
          <a:xfrm>
            <a:off x="758309" y="2833092"/>
            <a:ext cx="13113782" cy="34671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00"/>
              </a:lnSpc>
              <a:buNone/>
            </a:pPr>
            <a:r>
              <a:rPr lang="en-US" sz="1700" dirty="0">
                <a:solidFill>
                  <a:srgbClr val="3B3535"/>
                </a:solidFill>
                <a:latin typeface="Sora Light" pitchFamily="34" charset="0"/>
                <a:ea typeface="Sora Light" pitchFamily="34" charset="-122"/>
                <a:cs typeface="Sora Light" pitchFamily="34" charset="-120"/>
              </a:rPr>
              <a:t>Две оптимизации:</a:t>
            </a:r>
            <a:endParaRPr lang="en-US" sz="1700" dirty="0"/>
          </a:p>
        </p:txBody>
      </p:sp>
      <p:sp>
        <p:nvSpPr>
          <p:cNvPr id="4" name="Text 2"/>
          <p:cNvSpPr/>
          <p:nvPr/>
        </p:nvSpPr>
        <p:spPr>
          <a:xfrm>
            <a:off x="758309" y="3640098"/>
            <a:ext cx="6251615" cy="42755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3350"/>
              </a:lnSpc>
              <a:buNone/>
            </a:pPr>
            <a:r>
              <a:rPr lang="en-US" sz="2650" dirty="0">
                <a:solidFill>
                  <a:srgbClr val="1F1E1E"/>
                </a:solidFill>
                <a:latin typeface="Alexandria Semi Bold" pitchFamily="34" charset="0"/>
                <a:ea typeface="Alexandria Semi Bold" pitchFamily="34" charset="-122"/>
                <a:cs typeface="Alexandria Semi Bold" pitchFamily="34" charset="-120"/>
              </a:rPr>
              <a:t>Constant Folding (свертка констант):</a:t>
            </a:r>
            <a:endParaRPr lang="en-US" sz="2650" dirty="0"/>
          </a:p>
        </p:txBody>
      </p:sp>
      <p:sp>
        <p:nvSpPr>
          <p:cNvPr id="5" name="Shape 3"/>
          <p:cNvSpPr/>
          <p:nvPr/>
        </p:nvSpPr>
        <p:spPr>
          <a:xfrm>
            <a:off x="758309" y="4311372"/>
            <a:ext cx="6292572" cy="1018223"/>
          </a:xfrm>
          <a:prstGeom prst="roundRect">
            <a:avLst>
              <a:gd name="adj" fmla="val 8937"/>
            </a:avLst>
          </a:prstGeom>
          <a:solidFill>
            <a:srgbClr val="F2EDED"/>
          </a:solidFill>
          <a:ln/>
        </p:spPr>
      </p:sp>
      <p:sp>
        <p:nvSpPr>
          <p:cNvPr id="6" name="Shape 4"/>
          <p:cNvSpPr/>
          <p:nvPr/>
        </p:nvSpPr>
        <p:spPr>
          <a:xfrm>
            <a:off x="747593" y="4311372"/>
            <a:ext cx="6314003" cy="1018223"/>
          </a:xfrm>
          <a:prstGeom prst="roundRect">
            <a:avLst>
              <a:gd name="adj" fmla="val 3192"/>
            </a:avLst>
          </a:prstGeom>
          <a:solidFill>
            <a:srgbClr val="F2EDED"/>
          </a:solidFill>
          <a:ln/>
        </p:spPr>
      </p:sp>
      <p:sp>
        <p:nvSpPr>
          <p:cNvPr id="7" name="Text 5"/>
          <p:cNvSpPr/>
          <p:nvPr/>
        </p:nvSpPr>
        <p:spPr>
          <a:xfrm>
            <a:off x="964168" y="4473773"/>
            <a:ext cx="5880854" cy="6934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700"/>
              </a:lnSpc>
              <a:buNone/>
            </a:pPr>
            <a:r>
              <a:rPr lang="en-US" sz="1700" dirty="0">
                <a:solidFill>
                  <a:srgbClr val="3B3535"/>
                </a:solidFill>
                <a:highlight>
                  <a:srgbClr val="F2EDED"/>
                </a:highlight>
                <a:latin typeface="Consolas Light" pitchFamily="34" charset="0"/>
                <a:ea typeface="Consolas Light" pitchFamily="34" charset="-122"/>
                <a:cs typeface="Consolas Light" pitchFamily="34" charset="-120"/>
              </a:rPr>
              <a:t>Исход: t1 = 2 * 3; t2 = t1 + 5</a:t>
            </a:r>
            <a:endParaRPr lang="en-US" sz="1700" dirty="0"/>
          </a:p>
          <a:p>
            <a:pPr marL="0" indent="0" algn="l">
              <a:lnSpc>
                <a:spcPts val="2700"/>
              </a:lnSpc>
              <a:buNone/>
            </a:pPr>
            <a:r>
              <a:rPr lang="en-US" sz="1700" dirty="0">
                <a:solidFill>
                  <a:srgbClr val="3B3535"/>
                </a:solidFill>
                <a:highlight>
                  <a:srgbClr val="F2EDED"/>
                </a:highlight>
                <a:latin typeface="Consolas Light" pitchFamily="34" charset="0"/>
                <a:ea typeface="Consolas Light" pitchFamily="34" charset="-122"/>
                <a:cs typeface="Consolas Light" pitchFamily="34" charset="-120"/>
              </a:rPr>
              <a:t>После: t1 = 6; t2 = 11</a:t>
            </a:r>
            <a:endParaRPr lang="en-US" sz="1700" dirty="0"/>
          </a:p>
        </p:txBody>
      </p:sp>
      <p:sp>
        <p:nvSpPr>
          <p:cNvPr id="8" name="Text 6"/>
          <p:cNvSpPr/>
          <p:nvPr/>
        </p:nvSpPr>
        <p:spPr>
          <a:xfrm>
            <a:off x="7587139" y="3640098"/>
            <a:ext cx="6292572" cy="85510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3350"/>
              </a:lnSpc>
              <a:buNone/>
            </a:pPr>
            <a:r>
              <a:rPr lang="en-US" sz="2650" dirty="0">
                <a:solidFill>
                  <a:srgbClr val="1F1E1E"/>
                </a:solidFill>
                <a:latin typeface="Alexandria Semi Bold" pitchFamily="34" charset="0"/>
                <a:ea typeface="Alexandria Semi Bold" pitchFamily="34" charset="-122"/>
                <a:cs typeface="Alexandria Semi Bold" pitchFamily="34" charset="-120"/>
              </a:rPr>
              <a:t>Dead Code Elimination (удаление мертвого кода):</a:t>
            </a:r>
            <a:endParaRPr lang="en-US" sz="2650" dirty="0"/>
          </a:p>
        </p:txBody>
      </p:sp>
      <p:sp>
        <p:nvSpPr>
          <p:cNvPr id="9" name="Shape 7"/>
          <p:cNvSpPr/>
          <p:nvPr/>
        </p:nvSpPr>
        <p:spPr>
          <a:xfrm>
            <a:off x="7587139" y="4738926"/>
            <a:ext cx="6292572" cy="1018223"/>
          </a:xfrm>
          <a:prstGeom prst="roundRect">
            <a:avLst>
              <a:gd name="adj" fmla="val 8937"/>
            </a:avLst>
          </a:prstGeom>
          <a:solidFill>
            <a:srgbClr val="F2EDED"/>
          </a:solidFill>
          <a:ln/>
        </p:spPr>
      </p:sp>
      <p:sp>
        <p:nvSpPr>
          <p:cNvPr id="10" name="Shape 8"/>
          <p:cNvSpPr/>
          <p:nvPr/>
        </p:nvSpPr>
        <p:spPr>
          <a:xfrm>
            <a:off x="7576423" y="4738926"/>
            <a:ext cx="6314003" cy="1018223"/>
          </a:xfrm>
          <a:prstGeom prst="roundRect">
            <a:avLst>
              <a:gd name="adj" fmla="val 3192"/>
            </a:avLst>
          </a:prstGeom>
          <a:solidFill>
            <a:srgbClr val="F2EDED"/>
          </a:solidFill>
          <a:ln/>
        </p:spPr>
      </p:sp>
      <p:sp>
        <p:nvSpPr>
          <p:cNvPr id="11" name="Text 9"/>
          <p:cNvSpPr/>
          <p:nvPr/>
        </p:nvSpPr>
        <p:spPr>
          <a:xfrm>
            <a:off x="7792998" y="4901327"/>
            <a:ext cx="5880854" cy="6934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700"/>
              </a:lnSpc>
              <a:buNone/>
            </a:pPr>
            <a:r>
              <a:rPr lang="en-US" sz="1700" dirty="0">
                <a:solidFill>
                  <a:srgbClr val="3B3535"/>
                </a:solidFill>
                <a:highlight>
                  <a:srgbClr val="F2EDED"/>
                </a:highlight>
                <a:latin typeface="Consolas Light" pitchFamily="34" charset="0"/>
                <a:ea typeface="Consolas Light" pitchFamily="34" charset="-122"/>
                <a:cs typeface="Consolas Light" pitchFamily="34" charset="-120"/>
              </a:rPr>
              <a:t>Исход: t1 = a + b; t2 = c * 2; print(t2)</a:t>
            </a:r>
            <a:endParaRPr lang="en-US" sz="1700" dirty="0"/>
          </a:p>
          <a:p>
            <a:pPr marL="0" indent="0" algn="l">
              <a:lnSpc>
                <a:spcPts val="2700"/>
              </a:lnSpc>
              <a:buNone/>
            </a:pPr>
            <a:r>
              <a:rPr lang="en-US" sz="1700" dirty="0">
                <a:solidFill>
                  <a:srgbClr val="3B3535"/>
                </a:solidFill>
                <a:highlight>
                  <a:srgbClr val="F2EDED"/>
                </a:highlight>
                <a:latin typeface="Consolas Light" pitchFamily="34" charset="0"/>
                <a:ea typeface="Consolas Light" pitchFamily="34" charset="-122"/>
                <a:cs typeface="Consolas Light" pitchFamily="34" charset="-120"/>
              </a:rPr>
              <a:t>После: t2 = c * 2; print(t2)</a:t>
            </a:r>
            <a:endParaRPr lang="en-US" sz="1700" dirty="0"/>
          </a:p>
        </p:txBody>
      </p:sp>
      <p:sp>
        <p:nvSpPr>
          <p:cNvPr id="12" name="Text 10"/>
          <p:cNvSpPr/>
          <p:nvPr/>
        </p:nvSpPr>
        <p:spPr>
          <a:xfrm>
            <a:off x="7587139" y="6000869"/>
            <a:ext cx="6292572" cy="34671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00"/>
              </a:lnSpc>
              <a:buNone/>
            </a:pPr>
            <a:r>
              <a:rPr lang="en-US" sz="1700" dirty="0">
                <a:solidFill>
                  <a:srgbClr val="3B3535"/>
                </a:solidFill>
                <a:latin typeface="Sora Light" pitchFamily="34" charset="0"/>
                <a:ea typeface="Sora Light" pitchFamily="34" charset="-122"/>
                <a:cs typeface="Sora Light" pitchFamily="34" charset="-120"/>
              </a:rPr>
              <a:t>Граф использования переменных → удалить неживые.</a:t>
            </a:r>
            <a:endParaRPr lang="en-US" sz="1700" dirty="0"/>
          </a:p>
        </p:txBody>
      </p:sp>
      <p:sp>
        <p:nvSpPr>
          <p:cNvPr id="13" name="Прямоугольник 12">
            <a:extLst>
              <a:ext uri="{FF2B5EF4-FFF2-40B4-BE49-F238E27FC236}">
                <a16:creationId xmlns:a16="http://schemas.microsoft.com/office/drawing/2014/main" id="{14568670-D81D-49EF-82DC-07FE4523850F}"/>
              </a:ext>
            </a:extLst>
          </p:cNvPr>
          <p:cNvSpPr/>
          <p:nvPr/>
        </p:nvSpPr>
        <p:spPr>
          <a:xfrm>
            <a:off x="12562114" y="7478486"/>
            <a:ext cx="2068286" cy="729922"/>
          </a:xfrm>
          <a:prstGeom prst="rect">
            <a:avLst/>
          </a:prstGeom>
          <a:solidFill>
            <a:srgbClr val="FFFAFA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16518" y="563761"/>
            <a:ext cx="13197364" cy="134683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5300"/>
              </a:lnSpc>
              <a:buNone/>
            </a:pPr>
            <a:r>
              <a:rPr lang="en-US" sz="4200" dirty="0">
                <a:solidFill>
                  <a:srgbClr val="1F1E1E"/>
                </a:solidFill>
                <a:latin typeface="Alexandria Semi Bold" pitchFamily="34" charset="0"/>
                <a:ea typeface="Alexandria Semi Bold" pitchFamily="34" charset="-122"/>
                <a:cs typeface="Alexandria Semi Bold" pitchFamily="34" charset="-120"/>
              </a:rPr>
              <a:t>Результаты тестирования — Пример 1 (вычисления)</a:t>
            </a:r>
            <a:endParaRPr lang="en-US" sz="4200" dirty="0"/>
          </a:p>
        </p:txBody>
      </p:sp>
      <p:sp>
        <p:nvSpPr>
          <p:cNvPr id="3" name="Text 1"/>
          <p:cNvSpPr/>
          <p:nvPr/>
        </p:nvSpPr>
        <p:spPr>
          <a:xfrm>
            <a:off x="716518" y="1992392"/>
            <a:ext cx="3232309" cy="4039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3150"/>
              </a:lnSpc>
              <a:buNone/>
            </a:pPr>
            <a:r>
              <a:rPr lang="en-US" sz="2500" dirty="0">
                <a:solidFill>
                  <a:srgbClr val="1F1E1E"/>
                </a:solidFill>
                <a:latin typeface="Alexandria Semi Bold" pitchFamily="34" charset="0"/>
                <a:ea typeface="Alexandria Semi Bold" pitchFamily="34" charset="-122"/>
                <a:cs typeface="Alexandria Semi Bold" pitchFamily="34" charset="-120"/>
              </a:rPr>
              <a:t>Вход:</a:t>
            </a:r>
            <a:endParaRPr lang="en-US" sz="2500" dirty="0"/>
          </a:p>
        </p:txBody>
      </p:sp>
      <p:sp>
        <p:nvSpPr>
          <p:cNvPr id="4" name="Shape 2"/>
          <p:cNvSpPr/>
          <p:nvPr/>
        </p:nvSpPr>
        <p:spPr>
          <a:xfrm>
            <a:off x="716518" y="2703433"/>
            <a:ext cx="13197364" cy="1616631"/>
          </a:xfrm>
          <a:prstGeom prst="roundRect">
            <a:avLst>
              <a:gd name="adj" fmla="val 5319"/>
            </a:avLst>
          </a:prstGeom>
          <a:solidFill>
            <a:srgbClr val="F2EDED"/>
          </a:solidFill>
          <a:ln/>
        </p:spPr>
      </p:sp>
      <p:sp>
        <p:nvSpPr>
          <p:cNvPr id="5" name="Shape 3"/>
          <p:cNvSpPr/>
          <p:nvPr/>
        </p:nvSpPr>
        <p:spPr>
          <a:xfrm>
            <a:off x="706398" y="2703433"/>
            <a:ext cx="13217604" cy="1616631"/>
          </a:xfrm>
          <a:prstGeom prst="roundRect">
            <a:avLst>
              <a:gd name="adj" fmla="val 1900"/>
            </a:avLst>
          </a:prstGeom>
          <a:solidFill>
            <a:srgbClr val="F2EDED"/>
          </a:solidFill>
          <a:ln/>
        </p:spPr>
      </p:sp>
      <p:sp>
        <p:nvSpPr>
          <p:cNvPr id="6" name="Text 4"/>
          <p:cNvSpPr/>
          <p:nvPr/>
        </p:nvSpPr>
        <p:spPr>
          <a:xfrm>
            <a:off x="911066" y="2856905"/>
            <a:ext cx="12808268" cy="13096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550"/>
              </a:lnSpc>
              <a:buNone/>
            </a:pPr>
            <a:r>
              <a:rPr lang="en-US" sz="1600" dirty="0">
                <a:solidFill>
                  <a:srgbClr val="3B3535"/>
                </a:solidFill>
                <a:highlight>
                  <a:srgbClr val="F2EDED"/>
                </a:highlight>
                <a:latin typeface="Consolas Light" pitchFamily="34" charset="0"/>
                <a:ea typeface="Consolas Light" pitchFamily="34" charset="-122"/>
                <a:cs typeface="Consolas Light" pitchFamily="34" charset="-120"/>
              </a:rPr>
              <a:t>int a = 10;</a:t>
            </a:r>
            <a:endParaRPr lang="en-US" sz="1600" dirty="0"/>
          </a:p>
          <a:p>
            <a:pPr marL="0" indent="0" algn="l">
              <a:lnSpc>
                <a:spcPts val="2550"/>
              </a:lnSpc>
              <a:buNone/>
            </a:pPr>
            <a:r>
              <a:rPr lang="en-US" sz="1600" dirty="0">
                <a:solidFill>
                  <a:srgbClr val="3B3535"/>
                </a:solidFill>
                <a:highlight>
                  <a:srgbClr val="F2EDED"/>
                </a:highlight>
                <a:latin typeface="Consolas Light" pitchFamily="34" charset="0"/>
                <a:ea typeface="Consolas Light" pitchFamily="34" charset="-122"/>
                <a:cs typeface="Consolas Light" pitchFamily="34" charset="-120"/>
              </a:rPr>
              <a:t>int b = 20;</a:t>
            </a:r>
            <a:endParaRPr lang="en-US" sz="1600" dirty="0"/>
          </a:p>
          <a:p>
            <a:pPr marL="0" indent="0" algn="l">
              <a:lnSpc>
                <a:spcPts val="2550"/>
              </a:lnSpc>
              <a:buNone/>
            </a:pPr>
            <a:r>
              <a:rPr lang="en-US" sz="1600" dirty="0">
                <a:solidFill>
                  <a:srgbClr val="3B3535"/>
                </a:solidFill>
                <a:highlight>
                  <a:srgbClr val="F2EDED"/>
                </a:highlight>
                <a:latin typeface="Consolas Light" pitchFamily="34" charset="0"/>
                <a:ea typeface="Consolas Light" pitchFamily="34" charset="-122"/>
                <a:cs typeface="Consolas Light" pitchFamily="34" charset="-120"/>
              </a:rPr>
              <a:t>int c = a + b * 2;</a:t>
            </a:r>
            <a:endParaRPr lang="en-US" sz="1600" dirty="0"/>
          </a:p>
          <a:p>
            <a:pPr marL="0" indent="0" algn="l">
              <a:lnSpc>
                <a:spcPts val="2550"/>
              </a:lnSpc>
              <a:buNone/>
            </a:pPr>
            <a:r>
              <a:rPr lang="en-US" sz="1600" dirty="0">
                <a:solidFill>
                  <a:srgbClr val="3B3535"/>
                </a:solidFill>
                <a:highlight>
                  <a:srgbClr val="F2EDED"/>
                </a:highlight>
                <a:latin typeface="Consolas Light" pitchFamily="34" charset="0"/>
                <a:ea typeface="Consolas Light" pitchFamily="34" charset="-122"/>
                <a:cs typeface="Consolas Light" pitchFamily="34" charset="-120"/>
              </a:rPr>
              <a:t>print(c);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716518" y="4627126"/>
            <a:ext cx="3232309" cy="4039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3150"/>
              </a:lnSpc>
              <a:buNone/>
            </a:pPr>
            <a:r>
              <a:rPr lang="en-US" sz="2500" dirty="0">
                <a:solidFill>
                  <a:srgbClr val="1F1E1E"/>
                </a:solidFill>
                <a:latin typeface="Alexandria Semi Bold" pitchFamily="34" charset="0"/>
                <a:ea typeface="Alexandria Semi Bold" pitchFamily="34" charset="-122"/>
                <a:cs typeface="Alexandria Semi Bold" pitchFamily="34" charset="-120"/>
              </a:rPr>
              <a:t>TAC:</a:t>
            </a:r>
            <a:endParaRPr lang="en-US" sz="2500" dirty="0"/>
          </a:p>
        </p:txBody>
      </p:sp>
      <p:sp>
        <p:nvSpPr>
          <p:cNvPr id="8" name="Shape 6"/>
          <p:cNvSpPr/>
          <p:nvPr/>
        </p:nvSpPr>
        <p:spPr>
          <a:xfrm>
            <a:off x="716518" y="5338167"/>
            <a:ext cx="13197364" cy="1616631"/>
          </a:xfrm>
          <a:prstGeom prst="roundRect">
            <a:avLst>
              <a:gd name="adj" fmla="val 5319"/>
            </a:avLst>
          </a:prstGeom>
          <a:solidFill>
            <a:srgbClr val="F2EDED"/>
          </a:solidFill>
          <a:ln/>
        </p:spPr>
      </p:sp>
      <p:sp>
        <p:nvSpPr>
          <p:cNvPr id="9" name="Shape 7"/>
          <p:cNvSpPr/>
          <p:nvPr/>
        </p:nvSpPr>
        <p:spPr>
          <a:xfrm>
            <a:off x="706398" y="5338167"/>
            <a:ext cx="13217604" cy="1616631"/>
          </a:xfrm>
          <a:prstGeom prst="roundRect">
            <a:avLst>
              <a:gd name="adj" fmla="val 1900"/>
            </a:avLst>
          </a:prstGeom>
          <a:solidFill>
            <a:srgbClr val="F2EDED"/>
          </a:solidFill>
          <a:ln/>
        </p:spPr>
      </p:sp>
      <p:sp>
        <p:nvSpPr>
          <p:cNvPr id="10" name="Text 8"/>
          <p:cNvSpPr/>
          <p:nvPr/>
        </p:nvSpPr>
        <p:spPr>
          <a:xfrm>
            <a:off x="911066" y="5491639"/>
            <a:ext cx="12808268" cy="13096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550"/>
              </a:lnSpc>
              <a:buNone/>
            </a:pPr>
            <a:r>
              <a:rPr lang="en-US" sz="1600" dirty="0">
                <a:solidFill>
                  <a:srgbClr val="3B3535"/>
                </a:solidFill>
                <a:highlight>
                  <a:srgbClr val="F2EDED"/>
                </a:highlight>
                <a:latin typeface="Consolas Light" pitchFamily="34" charset="0"/>
                <a:ea typeface="Consolas Light" pitchFamily="34" charset="-122"/>
                <a:cs typeface="Consolas Light" pitchFamily="34" charset="-120"/>
              </a:rPr>
              <a:t>0: t1 = b * 2</a:t>
            </a:r>
            <a:endParaRPr lang="en-US" sz="1600" dirty="0"/>
          </a:p>
          <a:p>
            <a:pPr marL="0" indent="0" algn="l">
              <a:lnSpc>
                <a:spcPts val="2550"/>
              </a:lnSpc>
              <a:buNone/>
            </a:pPr>
            <a:r>
              <a:rPr lang="en-US" sz="1600" dirty="0">
                <a:solidFill>
                  <a:srgbClr val="3B3535"/>
                </a:solidFill>
                <a:highlight>
                  <a:srgbClr val="F2EDED"/>
                </a:highlight>
                <a:latin typeface="Consolas Light" pitchFamily="34" charset="0"/>
                <a:ea typeface="Consolas Light" pitchFamily="34" charset="-122"/>
                <a:cs typeface="Consolas Light" pitchFamily="34" charset="-120"/>
              </a:rPr>
              <a:t>1: t2 = a + t1</a:t>
            </a:r>
            <a:endParaRPr lang="en-US" sz="1600" dirty="0"/>
          </a:p>
          <a:p>
            <a:pPr marL="0" indent="0" algn="l">
              <a:lnSpc>
                <a:spcPts val="2550"/>
              </a:lnSpc>
              <a:buNone/>
            </a:pPr>
            <a:r>
              <a:rPr lang="en-US" sz="1600" dirty="0">
                <a:solidFill>
                  <a:srgbClr val="3B3535"/>
                </a:solidFill>
                <a:highlight>
                  <a:srgbClr val="F2EDED"/>
                </a:highlight>
                <a:latin typeface="Consolas Light" pitchFamily="34" charset="0"/>
                <a:ea typeface="Consolas Light" pitchFamily="34" charset="-122"/>
                <a:cs typeface="Consolas Light" pitchFamily="34" charset="-120"/>
              </a:rPr>
              <a:t>2: c = t2</a:t>
            </a:r>
            <a:endParaRPr lang="en-US" sz="1600" dirty="0"/>
          </a:p>
          <a:p>
            <a:pPr marL="0" indent="0" algn="l">
              <a:lnSpc>
                <a:spcPts val="2550"/>
              </a:lnSpc>
              <a:buNone/>
            </a:pPr>
            <a:r>
              <a:rPr lang="en-US" sz="1600" dirty="0">
                <a:solidFill>
                  <a:srgbClr val="3B3535"/>
                </a:solidFill>
                <a:highlight>
                  <a:srgbClr val="F2EDED"/>
                </a:highlight>
                <a:latin typeface="Consolas Light" pitchFamily="34" charset="0"/>
                <a:ea typeface="Consolas Light" pitchFamily="34" charset="-122"/>
                <a:cs typeface="Consolas Light" pitchFamily="34" charset="-120"/>
              </a:rPr>
              <a:t>3: print(c)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716518" y="7261860"/>
            <a:ext cx="3232309" cy="4039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3150"/>
              </a:lnSpc>
              <a:buNone/>
            </a:pPr>
            <a:r>
              <a:rPr lang="en-US" sz="2500" dirty="0">
                <a:solidFill>
                  <a:srgbClr val="1F1E1E"/>
                </a:solidFill>
                <a:latin typeface="Alexandria Semi Bold" pitchFamily="34" charset="0"/>
                <a:ea typeface="Alexandria Semi Bold" pitchFamily="34" charset="-122"/>
                <a:cs typeface="Alexandria Semi Bold" pitchFamily="34" charset="-120"/>
              </a:rPr>
              <a:t>Вывод: 50</a:t>
            </a:r>
            <a:endParaRPr lang="en-US" sz="2500" dirty="0"/>
          </a:p>
        </p:txBody>
      </p:sp>
      <p:sp>
        <p:nvSpPr>
          <p:cNvPr id="12" name="Прямоугольник 11">
            <a:extLst>
              <a:ext uri="{FF2B5EF4-FFF2-40B4-BE49-F238E27FC236}">
                <a16:creationId xmlns:a16="http://schemas.microsoft.com/office/drawing/2014/main" id="{28099659-4363-4BEE-AFA3-1CCC262C8CC7}"/>
              </a:ext>
            </a:extLst>
          </p:cNvPr>
          <p:cNvSpPr/>
          <p:nvPr/>
        </p:nvSpPr>
        <p:spPr>
          <a:xfrm>
            <a:off x="12562114" y="7478486"/>
            <a:ext cx="2068286" cy="729922"/>
          </a:xfrm>
          <a:prstGeom prst="rect">
            <a:avLst/>
          </a:prstGeom>
          <a:solidFill>
            <a:srgbClr val="FFFAFA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58309" y="1598652"/>
            <a:ext cx="13113782" cy="14254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5600"/>
              </a:lnSpc>
              <a:buNone/>
            </a:pPr>
            <a:r>
              <a:rPr lang="en-US" sz="4450" dirty="0">
                <a:solidFill>
                  <a:srgbClr val="1F1E1E"/>
                </a:solidFill>
                <a:latin typeface="Alexandria Semi Bold" pitchFamily="34" charset="0"/>
                <a:ea typeface="Alexandria Semi Bold" pitchFamily="34" charset="-122"/>
                <a:cs typeface="Alexandria Semi Bold" pitchFamily="34" charset="-120"/>
              </a:rPr>
              <a:t>Результаты тестирования — Пример 2 (if) и Пример 3 (while)</a:t>
            </a:r>
            <a:endParaRPr lang="en-US" sz="4450" dirty="0"/>
          </a:p>
        </p:txBody>
      </p:sp>
      <p:sp>
        <p:nvSpPr>
          <p:cNvPr id="3" name="Text 1"/>
          <p:cNvSpPr/>
          <p:nvPr/>
        </p:nvSpPr>
        <p:spPr>
          <a:xfrm>
            <a:off x="758309" y="3565565"/>
            <a:ext cx="3420904" cy="42755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3350"/>
              </a:lnSpc>
              <a:buNone/>
            </a:pPr>
            <a:r>
              <a:rPr lang="en-US" sz="2650" dirty="0">
                <a:solidFill>
                  <a:srgbClr val="1F1E1E"/>
                </a:solidFill>
                <a:latin typeface="Alexandria Semi Bold" pitchFamily="34" charset="0"/>
                <a:ea typeface="Alexandria Semi Bold" pitchFamily="34" charset="-122"/>
                <a:cs typeface="Alexandria Semi Bold" pitchFamily="34" charset="-120"/>
              </a:rPr>
              <a:t>If (x=5 &gt;3):</a:t>
            </a:r>
            <a:endParaRPr lang="en-US" sz="2650" dirty="0"/>
          </a:p>
        </p:txBody>
      </p:sp>
      <p:sp>
        <p:nvSpPr>
          <p:cNvPr id="4" name="Shape 2"/>
          <p:cNvSpPr/>
          <p:nvPr/>
        </p:nvSpPr>
        <p:spPr>
          <a:xfrm>
            <a:off x="758309" y="4236839"/>
            <a:ext cx="6292572" cy="1018223"/>
          </a:xfrm>
          <a:prstGeom prst="roundRect">
            <a:avLst>
              <a:gd name="adj" fmla="val 8937"/>
            </a:avLst>
          </a:prstGeom>
          <a:solidFill>
            <a:srgbClr val="F2EDED"/>
          </a:solidFill>
          <a:ln/>
        </p:spPr>
      </p:sp>
      <p:sp>
        <p:nvSpPr>
          <p:cNvPr id="5" name="Shape 3"/>
          <p:cNvSpPr/>
          <p:nvPr/>
        </p:nvSpPr>
        <p:spPr>
          <a:xfrm>
            <a:off x="747593" y="4236839"/>
            <a:ext cx="6314003" cy="1018223"/>
          </a:xfrm>
          <a:prstGeom prst="roundRect">
            <a:avLst>
              <a:gd name="adj" fmla="val 3192"/>
            </a:avLst>
          </a:prstGeom>
          <a:solidFill>
            <a:srgbClr val="F2EDED"/>
          </a:solidFill>
          <a:ln/>
        </p:spPr>
      </p:sp>
      <p:sp>
        <p:nvSpPr>
          <p:cNvPr id="6" name="Text 4"/>
          <p:cNvSpPr/>
          <p:nvPr/>
        </p:nvSpPr>
        <p:spPr>
          <a:xfrm>
            <a:off x="964168" y="4399240"/>
            <a:ext cx="5880854" cy="6934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700"/>
              </a:lnSpc>
              <a:buNone/>
            </a:pPr>
            <a:r>
              <a:rPr lang="en-US" sz="1700" dirty="0">
                <a:solidFill>
                  <a:srgbClr val="3B3535"/>
                </a:solidFill>
                <a:highlight>
                  <a:srgbClr val="F2EDED"/>
                </a:highlight>
                <a:latin typeface="Consolas Light" pitchFamily="34" charset="0"/>
                <a:ea typeface="Consolas Light" pitchFamily="34" charset="-122"/>
                <a:cs typeface="Consolas Light" pitchFamily="34" charset="-120"/>
              </a:rPr>
              <a:t>TAC: x=5; t1=x&gt;3; ifz t1 goto L2; print(100); goto L3; L2: print(200); L3: nop</a:t>
            </a:r>
            <a:endParaRPr lang="en-US" sz="1700" dirty="0"/>
          </a:p>
        </p:txBody>
      </p:sp>
      <p:sp>
        <p:nvSpPr>
          <p:cNvPr id="7" name="Text 5"/>
          <p:cNvSpPr/>
          <p:nvPr/>
        </p:nvSpPr>
        <p:spPr>
          <a:xfrm>
            <a:off x="758309" y="5498783"/>
            <a:ext cx="6292572" cy="34671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00"/>
              </a:lnSpc>
              <a:buNone/>
            </a:pPr>
            <a:r>
              <a:rPr lang="en-US" sz="1700" b="1" dirty="0">
                <a:solidFill>
                  <a:srgbClr val="3B3535"/>
                </a:solidFill>
                <a:latin typeface="Sora Light" pitchFamily="34" charset="0"/>
                <a:ea typeface="Sora Light" pitchFamily="34" charset="-122"/>
                <a:cs typeface="Sora Light" pitchFamily="34" charset="-120"/>
              </a:rPr>
              <a:t>Вывод: 100</a:t>
            </a:r>
            <a:endParaRPr lang="en-US" sz="1700" dirty="0"/>
          </a:p>
        </p:txBody>
      </p:sp>
      <p:sp>
        <p:nvSpPr>
          <p:cNvPr id="8" name="Text 6"/>
          <p:cNvSpPr/>
          <p:nvPr/>
        </p:nvSpPr>
        <p:spPr>
          <a:xfrm>
            <a:off x="7587139" y="3565565"/>
            <a:ext cx="3467457" cy="42755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3350"/>
              </a:lnSpc>
              <a:buNone/>
            </a:pPr>
            <a:r>
              <a:rPr lang="en-US" sz="2650" dirty="0">
                <a:solidFill>
                  <a:srgbClr val="1F1E1E"/>
                </a:solidFill>
                <a:latin typeface="Alexandria Semi Bold" pitchFamily="34" charset="0"/>
                <a:ea typeface="Alexandria Semi Bold" pitchFamily="34" charset="-122"/>
                <a:cs typeface="Alexandria Semi Bold" pitchFamily="34" charset="-120"/>
              </a:rPr>
              <a:t>While (i&lt;3, print i++):</a:t>
            </a:r>
            <a:endParaRPr lang="en-US" sz="2650" dirty="0"/>
          </a:p>
        </p:txBody>
      </p:sp>
      <p:sp>
        <p:nvSpPr>
          <p:cNvPr id="9" name="Shape 7"/>
          <p:cNvSpPr/>
          <p:nvPr/>
        </p:nvSpPr>
        <p:spPr>
          <a:xfrm>
            <a:off x="7587139" y="4236839"/>
            <a:ext cx="6292572" cy="1018223"/>
          </a:xfrm>
          <a:prstGeom prst="roundRect">
            <a:avLst>
              <a:gd name="adj" fmla="val 8937"/>
            </a:avLst>
          </a:prstGeom>
          <a:solidFill>
            <a:srgbClr val="F2EDED"/>
          </a:solidFill>
          <a:ln/>
        </p:spPr>
      </p:sp>
      <p:sp>
        <p:nvSpPr>
          <p:cNvPr id="10" name="Shape 8"/>
          <p:cNvSpPr/>
          <p:nvPr/>
        </p:nvSpPr>
        <p:spPr>
          <a:xfrm>
            <a:off x="7576423" y="4236839"/>
            <a:ext cx="6314003" cy="1018223"/>
          </a:xfrm>
          <a:prstGeom prst="roundRect">
            <a:avLst>
              <a:gd name="adj" fmla="val 3192"/>
            </a:avLst>
          </a:prstGeom>
          <a:solidFill>
            <a:srgbClr val="F2EDED"/>
          </a:solidFill>
          <a:ln/>
        </p:spPr>
      </p:sp>
      <p:sp>
        <p:nvSpPr>
          <p:cNvPr id="11" name="Text 9"/>
          <p:cNvSpPr/>
          <p:nvPr/>
        </p:nvSpPr>
        <p:spPr>
          <a:xfrm>
            <a:off x="7792998" y="4399240"/>
            <a:ext cx="5880854" cy="6934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700"/>
              </a:lnSpc>
              <a:buNone/>
            </a:pPr>
            <a:r>
              <a:rPr lang="en-US" sz="1700" dirty="0">
                <a:solidFill>
                  <a:srgbClr val="3B3535"/>
                </a:solidFill>
                <a:highlight>
                  <a:srgbClr val="F2EDED"/>
                </a:highlight>
                <a:latin typeface="Consolas Light" pitchFamily="34" charset="0"/>
                <a:ea typeface="Consolas Light" pitchFamily="34" charset="-122"/>
                <a:cs typeface="Consolas Light" pitchFamily="34" charset="-120"/>
              </a:rPr>
              <a:t>TAC: i=0; L0: t1=i&lt;3; ifz t1 goto L1; print(i); t2=i+1; i=t2; goto L0; L1: nop</a:t>
            </a:r>
            <a:endParaRPr lang="en-US" sz="1700" dirty="0"/>
          </a:p>
        </p:txBody>
      </p:sp>
      <p:sp>
        <p:nvSpPr>
          <p:cNvPr id="12" name="Text 10"/>
          <p:cNvSpPr/>
          <p:nvPr/>
        </p:nvSpPr>
        <p:spPr>
          <a:xfrm>
            <a:off x="7587139" y="5498783"/>
            <a:ext cx="6292572" cy="34671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00"/>
              </a:lnSpc>
              <a:buNone/>
            </a:pPr>
            <a:r>
              <a:rPr lang="en-US" sz="1700" b="1" dirty="0">
                <a:solidFill>
                  <a:srgbClr val="3B3535"/>
                </a:solidFill>
                <a:latin typeface="Sora Light" pitchFamily="34" charset="0"/>
                <a:ea typeface="Sora Light" pitchFamily="34" charset="-122"/>
                <a:cs typeface="Sora Light" pitchFamily="34" charset="-120"/>
              </a:rPr>
              <a:t>Вывод: 0 1 2</a:t>
            </a:r>
            <a:endParaRPr lang="en-US" sz="1700" dirty="0"/>
          </a:p>
        </p:txBody>
      </p:sp>
      <p:sp>
        <p:nvSpPr>
          <p:cNvPr id="13" name="Text 11"/>
          <p:cNvSpPr/>
          <p:nvPr/>
        </p:nvSpPr>
        <p:spPr>
          <a:xfrm>
            <a:off x="758309" y="6284119"/>
            <a:ext cx="13113782" cy="34671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00"/>
              </a:lnSpc>
              <a:buNone/>
            </a:pPr>
            <a:r>
              <a:rPr lang="en-US" sz="1700" dirty="0">
                <a:solidFill>
                  <a:srgbClr val="3B3535"/>
                </a:solidFill>
                <a:latin typeface="Sora Light" pitchFamily="34" charset="0"/>
                <a:ea typeface="Sora Light" pitchFamily="34" charset="-122"/>
                <a:cs typeface="Sora Light" pitchFamily="34" charset="-120"/>
              </a:rPr>
              <a:t>Оптимизация (const): t1=10\*2 →20; t2=20+5→25; print(25)</a:t>
            </a:r>
            <a:endParaRPr lang="en-US" sz="1700" dirty="0"/>
          </a:p>
        </p:txBody>
      </p:sp>
      <p:sp>
        <p:nvSpPr>
          <p:cNvPr id="14" name="Прямоугольник 13">
            <a:extLst>
              <a:ext uri="{FF2B5EF4-FFF2-40B4-BE49-F238E27FC236}">
                <a16:creationId xmlns:a16="http://schemas.microsoft.com/office/drawing/2014/main" id="{FBDB51A2-C188-4D3D-AEA8-1CA4362A5080}"/>
              </a:ext>
            </a:extLst>
          </p:cNvPr>
          <p:cNvSpPr/>
          <p:nvPr/>
        </p:nvSpPr>
        <p:spPr>
          <a:xfrm>
            <a:off x="12562114" y="7478486"/>
            <a:ext cx="2068286" cy="729922"/>
          </a:xfrm>
          <a:prstGeom prst="rect">
            <a:avLst/>
          </a:prstGeom>
          <a:solidFill>
            <a:srgbClr val="FFFAFA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58309" y="993815"/>
            <a:ext cx="8223766" cy="71270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5600"/>
              </a:lnSpc>
              <a:buNone/>
            </a:pPr>
            <a:r>
              <a:rPr lang="en-US" sz="4450" dirty="0">
                <a:solidFill>
                  <a:srgbClr val="1F1E1E"/>
                </a:solidFill>
                <a:latin typeface="Alexandria Semi Bold" pitchFamily="34" charset="0"/>
                <a:ea typeface="Alexandria Semi Bold" pitchFamily="34" charset="-122"/>
                <a:cs typeface="Alexandria Semi Bold" pitchFamily="34" charset="-120"/>
              </a:rPr>
              <a:t>Обработка ошибок и выводы</a:t>
            </a:r>
            <a:endParaRPr lang="en-US" sz="4450" dirty="0"/>
          </a:p>
        </p:txBody>
      </p:sp>
      <p:sp>
        <p:nvSpPr>
          <p:cNvPr id="3" name="Text 1"/>
          <p:cNvSpPr/>
          <p:nvPr/>
        </p:nvSpPr>
        <p:spPr>
          <a:xfrm>
            <a:off x="758309" y="2139791"/>
            <a:ext cx="13113782" cy="34671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00"/>
              </a:lnSpc>
              <a:buNone/>
            </a:pPr>
            <a:r>
              <a:rPr lang="en-US" sz="1700" dirty="0">
                <a:solidFill>
                  <a:srgbClr val="3B3535"/>
                </a:solidFill>
                <a:latin typeface="Sora Light" pitchFamily="34" charset="0"/>
                <a:ea typeface="Sora Light" pitchFamily="34" charset="-122"/>
                <a:cs typeface="Sora Light" pitchFamily="34" charset="-120"/>
              </a:rPr>
              <a:t>Ошибки: Неопределенные переменные, типы, синтаксис, ;.</a:t>
            </a:r>
            <a:endParaRPr lang="en-US" sz="1700" dirty="0"/>
          </a:p>
        </p:txBody>
      </p:sp>
      <p:sp>
        <p:nvSpPr>
          <p:cNvPr id="4" name="Shape 2"/>
          <p:cNvSpPr/>
          <p:nvPr/>
        </p:nvSpPr>
        <p:spPr>
          <a:xfrm>
            <a:off x="758309" y="2730222"/>
            <a:ext cx="4226838" cy="2027396"/>
          </a:xfrm>
          <a:prstGeom prst="roundRect">
            <a:avLst>
              <a:gd name="adj" fmla="val 4488"/>
            </a:avLst>
          </a:prstGeom>
          <a:solidFill>
            <a:srgbClr val="D5DCF6"/>
          </a:solidFill>
          <a:ln w="7620">
            <a:solidFill>
              <a:srgbClr val="BBC2DC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982504" y="2954417"/>
            <a:ext cx="649962" cy="649962"/>
          </a:xfrm>
          <a:prstGeom prst="roundRect">
            <a:avLst>
              <a:gd name="adj" fmla="val 14067108"/>
            </a:avLst>
          </a:prstGeom>
          <a:solidFill>
            <a:srgbClr val="1A2D7A"/>
          </a:solidFill>
          <a:ln/>
        </p:spPr>
      </p:sp>
      <p:pic>
        <p:nvPicPr>
          <p:cNvPr id="6" name="Image 0" descr="preencoded.png"/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1161217" y="3133130"/>
            <a:ext cx="292418" cy="292418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982504" y="3820954"/>
            <a:ext cx="3778448" cy="71247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00"/>
              </a:lnSpc>
              <a:buNone/>
            </a:pPr>
            <a:r>
              <a:rPr lang="en-US" sz="2200" dirty="0">
                <a:solidFill>
                  <a:srgbClr val="3B3535"/>
                </a:solidFill>
                <a:latin typeface="Alexandria Semi Bold" pitchFamily="34" charset="0"/>
                <a:ea typeface="Alexandria Semi Bold" pitchFamily="34" charset="-122"/>
                <a:cs typeface="Alexandria Semi Bold" pitchFamily="34" charset="-120"/>
              </a:rPr>
              <a:t>Lexer/Parser/AST — полностью</a:t>
            </a:r>
            <a:endParaRPr lang="en-US" sz="2200" dirty="0"/>
          </a:p>
        </p:txBody>
      </p:sp>
      <p:sp>
        <p:nvSpPr>
          <p:cNvPr id="8" name="Shape 5"/>
          <p:cNvSpPr/>
          <p:nvPr/>
        </p:nvSpPr>
        <p:spPr>
          <a:xfrm>
            <a:off x="5201722" y="2730222"/>
            <a:ext cx="4226838" cy="2027396"/>
          </a:xfrm>
          <a:prstGeom prst="roundRect">
            <a:avLst>
              <a:gd name="adj" fmla="val 4488"/>
            </a:avLst>
          </a:prstGeom>
          <a:solidFill>
            <a:srgbClr val="D5DCF6"/>
          </a:solidFill>
          <a:ln w="7620">
            <a:solidFill>
              <a:srgbClr val="BBC2DC"/>
            </a:solidFill>
            <a:prstDash val="solid"/>
          </a:ln>
        </p:spPr>
      </p:sp>
      <p:sp>
        <p:nvSpPr>
          <p:cNvPr id="9" name="Shape 6"/>
          <p:cNvSpPr/>
          <p:nvPr/>
        </p:nvSpPr>
        <p:spPr>
          <a:xfrm>
            <a:off x="5425916" y="2954417"/>
            <a:ext cx="649962" cy="649962"/>
          </a:xfrm>
          <a:prstGeom prst="roundRect">
            <a:avLst>
              <a:gd name="adj" fmla="val 14067108"/>
            </a:avLst>
          </a:prstGeom>
          <a:solidFill>
            <a:srgbClr val="1A2D7A"/>
          </a:solidFill>
          <a:ln/>
        </p:spPr>
      </p:sp>
      <p:pic>
        <p:nvPicPr>
          <p:cNvPr id="10" name="Image 1" descr="preencoded.png"/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5604629" y="3133130"/>
            <a:ext cx="292418" cy="292418"/>
          </a:xfrm>
          <a:prstGeom prst="rect">
            <a:avLst/>
          </a:prstGeom>
        </p:spPr>
      </p:pic>
      <p:sp>
        <p:nvSpPr>
          <p:cNvPr id="11" name="Text 7"/>
          <p:cNvSpPr/>
          <p:nvPr/>
        </p:nvSpPr>
        <p:spPr>
          <a:xfrm>
            <a:off x="5425916" y="3820954"/>
            <a:ext cx="2923580" cy="35623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00"/>
              </a:lnSpc>
              <a:buNone/>
            </a:pPr>
            <a:r>
              <a:rPr lang="en-US" sz="2200" dirty="0">
                <a:solidFill>
                  <a:srgbClr val="3B3535"/>
                </a:solidFill>
                <a:latin typeface="Alexandria Semi Bold" pitchFamily="34" charset="0"/>
                <a:ea typeface="Alexandria Semi Bold" pitchFamily="34" charset="-122"/>
                <a:cs typeface="Alexandria Semi Bold" pitchFamily="34" charset="-120"/>
              </a:rPr>
              <a:t>Semantic — </a:t>
            </a:r>
            <a:r>
              <a:rPr lang="en-US" sz="2200" dirty="0">
                <a:solidFill>
                  <a:srgbClr val="D3DCF6"/>
                </a:solidFill>
                <a:latin typeface="Alexandria Semi Bold" pitchFamily="34" charset="0"/>
                <a:ea typeface="Alexandria Semi Bold" pitchFamily="34" charset="-122"/>
                <a:cs typeface="Alexandria Semi Bold" pitchFamily="34" charset="-120"/>
              </a:rPr>
              <a:t>+3 балла</a:t>
            </a:r>
            <a:endParaRPr lang="en-US" sz="2200" dirty="0"/>
          </a:p>
        </p:txBody>
      </p:sp>
      <p:sp>
        <p:nvSpPr>
          <p:cNvPr id="12" name="Shape 8"/>
          <p:cNvSpPr/>
          <p:nvPr/>
        </p:nvSpPr>
        <p:spPr>
          <a:xfrm>
            <a:off x="9645134" y="2730222"/>
            <a:ext cx="4226957" cy="2027396"/>
          </a:xfrm>
          <a:prstGeom prst="roundRect">
            <a:avLst>
              <a:gd name="adj" fmla="val 4488"/>
            </a:avLst>
          </a:prstGeom>
          <a:solidFill>
            <a:srgbClr val="D5DCF6"/>
          </a:solidFill>
          <a:ln w="7620">
            <a:solidFill>
              <a:srgbClr val="BBC2DC"/>
            </a:solidFill>
            <a:prstDash val="solid"/>
          </a:ln>
        </p:spPr>
      </p:sp>
      <p:sp>
        <p:nvSpPr>
          <p:cNvPr id="13" name="Shape 9"/>
          <p:cNvSpPr/>
          <p:nvPr/>
        </p:nvSpPr>
        <p:spPr>
          <a:xfrm>
            <a:off x="9869329" y="2954417"/>
            <a:ext cx="649962" cy="649962"/>
          </a:xfrm>
          <a:prstGeom prst="roundRect">
            <a:avLst>
              <a:gd name="adj" fmla="val 14067108"/>
            </a:avLst>
          </a:prstGeom>
          <a:solidFill>
            <a:srgbClr val="1A2D7A"/>
          </a:solidFill>
          <a:ln/>
        </p:spPr>
      </p:sp>
      <p:pic>
        <p:nvPicPr>
          <p:cNvPr id="14" name="Image 2" descr="preencoded.png"/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10048042" y="3133130"/>
            <a:ext cx="292418" cy="292418"/>
          </a:xfrm>
          <a:prstGeom prst="rect">
            <a:avLst/>
          </a:prstGeom>
        </p:spPr>
      </p:pic>
      <p:sp>
        <p:nvSpPr>
          <p:cNvPr id="15" name="Text 10"/>
          <p:cNvSpPr/>
          <p:nvPr/>
        </p:nvSpPr>
        <p:spPr>
          <a:xfrm>
            <a:off x="9869329" y="3820954"/>
            <a:ext cx="2850713" cy="35623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00"/>
              </a:lnSpc>
              <a:buNone/>
            </a:pPr>
            <a:r>
              <a:rPr lang="en-US" sz="2200" dirty="0">
                <a:solidFill>
                  <a:srgbClr val="3B3535"/>
                </a:solidFill>
                <a:latin typeface="Alexandria Semi Bold" pitchFamily="34" charset="0"/>
                <a:ea typeface="Alexandria Semi Bold" pitchFamily="34" charset="-122"/>
                <a:cs typeface="Alexandria Semi Bold" pitchFamily="34" charset="-120"/>
              </a:rPr>
              <a:t>TAC — </a:t>
            </a:r>
            <a:r>
              <a:rPr lang="en-US" sz="2200" dirty="0">
                <a:solidFill>
                  <a:srgbClr val="D3DCF6"/>
                </a:solidFill>
                <a:latin typeface="Alexandria Semi Bold" pitchFamily="34" charset="0"/>
                <a:ea typeface="Alexandria Semi Bold" pitchFamily="34" charset="-122"/>
                <a:cs typeface="Alexandria Semi Bold" pitchFamily="34" charset="-120"/>
              </a:rPr>
              <a:t>+15 баллов</a:t>
            </a:r>
            <a:endParaRPr lang="en-US" sz="2200" dirty="0"/>
          </a:p>
        </p:txBody>
      </p:sp>
      <p:sp>
        <p:nvSpPr>
          <p:cNvPr id="16" name="Shape 11"/>
          <p:cNvSpPr/>
          <p:nvPr/>
        </p:nvSpPr>
        <p:spPr>
          <a:xfrm>
            <a:off x="758309" y="4974193"/>
            <a:ext cx="6448544" cy="1671161"/>
          </a:xfrm>
          <a:prstGeom prst="roundRect">
            <a:avLst>
              <a:gd name="adj" fmla="val 5445"/>
            </a:avLst>
          </a:prstGeom>
          <a:solidFill>
            <a:srgbClr val="D5DCF6"/>
          </a:solidFill>
          <a:ln w="7620">
            <a:solidFill>
              <a:srgbClr val="BBC2DC"/>
            </a:solidFill>
            <a:prstDash val="solid"/>
          </a:ln>
        </p:spPr>
      </p:sp>
      <p:sp>
        <p:nvSpPr>
          <p:cNvPr id="17" name="Shape 12"/>
          <p:cNvSpPr/>
          <p:nvPr/>
        </p:nvSpPr>
        <p:spPr>
          <a:xfrm>
            <a:off x="982504" y="5198388"/>
            <a:ext cx="649962" cy="649962"/>
          </a:xfrm>
          <a:prstGeom prst="roundRect">
            <a:avLst>
              <a:gd name="adj" fmla="val 14067108"/>
            </a:avLst>
          </a:prstGeom>
          <a:solidFill>
            <a:srgbClr val="1A2D7A"/>
          </a:solidFill>
          <a:ln/>
        </p:spPr>
      </p:sp>
      <p:pic>
        <p:nvPicPr>
          <p:cNvPr id="18" name="Image 3" descr="preencoded.png"/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1161217" y="5377101"/>
            <a:ext cx="292418" cy="292418"/>
          </a:xfrm>
          <a:prstGeom prst="rect">
            <a:avLst/>
          </a:prstGeom>
        </p:spPr>
      </p:pic>
      <p:sp>
        <p:nvSpPr>
          <p:cNvPr id="19" name="Text 13"/>
          <p:cNvSpPr/>
          <p:nvPr/>
        </p:nvSpPr>
        <p:spPr>
          <a:xfrm>
            <a:off x="982504" y="6064925"/>
            <a:ext cx="3006566" cy="35623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00"/>
              </a:lnSpc>
              <a:buNone/>
            </a:pPr>
            <a:r>
              <a:rPr lang="en-US" sz="2200" dirty="0">
                <a:solidFill>
                  <a:srgbClr val="3B3535"/>
                </a:solidFill>
                <a:latin typeface="Alexandria Semi Bold" pitchFamily="34" charset="0"/>
                <a:ea typeface="Alexandria Semi Bold" pitchFamily="34" charset="-122"/>
                <a:cs typeface="Alexandria Semi Bold" pitchFamily="34" charset="-120"/>
              </a:rPr>
              <a:t>Optimizer — </a:t>
            </a:r>
            <a:r>
              <a:rPr lang="en-US" sz="2200" dirty="0">
                <a:solidFill>
                  <a:srgbClr val="D3DCF6"/>
                </a:solidFill>
                <a:latin typeface="Alexandria Semi Bold" pitchFamily="34" charset="0"/>
                <a:ea typeface="Alexandria Semi Bold" pitchFamily="34" charset="-122"/>
                <a:cs typeface="Alexandria Semi Bold" pitchFamily="34" charset="-120"/>
              </a:rPr>
              <a:t>+4 балла</a:t>
            </a:r>
            <a:endParaRPr lang="en-US" sz="2200" dirty="0"/>
          </a:p>
        </p:txBody>
      </p:sp>
      <p:sp>
        <p:nvSpPr>
          <p:cNvPr id="20" name="Shape 14"/>
          <p:cNvSpPr/>
          <p:nvPr/>
        </p:nvSpPr>
        <p:spPr>
          <a:xfrm>
            <a:off x="7423428" y="4974193"/>
            <a:ext cx="6448663" cy="1671161"/>
          </a:xfrm>
          <a:prstGeom prst="roundRect">
            <a:avLst>
              <a:gd name="adj" fmla="val 5445"/>
            </a:avLst>
          </a:prstGeom>
          <a:solidFill>
            <a:srgbClr val="D5DCF6"/>
          </a:solidFill>
          <a:ln w="7620">
            <a:solidFill>
              <a:srgbClr val="BBC2DC"/>
            </a:solidFill>
            <a:prstDash val="solid"/>
          </a:ln>
        </p:spPr>
      </p:sp>
      <p:sp>
        <p:nvSpPr>
          <p:cNvPr id="21" name="Shape 15"/>
          <p:cNvSpPr/>
          <p:nvPr/>
        </p:nvSpPr>
        <p:spPr>
          <a:xfrm>
            <a:off x="7647623" y="5198388"/>
            <a:ext cx="649962" cy="649962"/>
          </a:xfrm>
          <a:prstGeom prst="roundRect">
            <a:avLst>
              <a:gd name="adj" fmla="val 14067108"/>
            </a:avLst>
          </a:prstGeom>
          <a:solidFill>
            <a:srgbClr val="1A2D7A"/>
          </a:solidFill>
          <a:ln/>
        </p:spPr>
      </p:sp>
      <p:pic>
        <p:nvPicPr>
          <p:cNvPr id="22" name="Image 4" descr="preencoded.png"/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7826335" y="5377101"/>
            <a:ext cx="292418" cy="292418"/>
          </a:xfrm>
          <a:prstGeom prst="rect">
            <a:avLst/>
          </a:prstGeom>
        </p:spPr>
      </p:pic>
      <p:sp>
        <p:nvSpPr>
          <p:cNvPr id="23" name="Text 16"/>
          <p:cNvSpPr/>
          <p:nvPr/>
        </p:nvSpPr>
        <p:spPr>
          <a:xfrm>
            <a:off x="7647623" y="6064925"/>
            <a:ext cx="3185160" cy="35623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00"/>
              </a:lnSpc>
              <a:buNone/>
            </a:pPr>
            <a:r>
              <a:rPr lang="en-US" sz="2200" dirty="0">
                <a:solidFill>
                  <a:srgbClr val="3B3535"/>
                </a:solidFill>
                <a:latin typeface="Alexandria Semi Bold" pitchFamily="34" charset="0"/>
                <a:ea typeface="Alexandria Semi Bold" pitchFamily="34" charset="-122"/>
                <a:cs typeface="Alexandria Semi Bold" pitchFamily="34" charset="-120"/>
              </a:rPr>
              <a:t>Interpreter — работает</a:t>
            </a:r>
            <a:endParaRPr lang="en-US" sz="2200" dirty="0"/>
          </a:p>
        </p:txBody>
      </p:sp>
      <p:sp>
        <p:nvSpPr>
          <p:cNvPr id="24" name="Text 17"/>
          <p:cNvSpPr/>
          <p:nvPr/>
        </p:nvSpPr>
        <p:spPr>
          <a:xfrm>
            <a:off x="758309" y="6889075"/>
            <a:ext cx="13113782" cy="34671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00"/>
              </a:lnSpc>
              <a:buNone/>
            </a:pPr>
            <a:r>
              <a:rPr lang="en-US" sz="1700" dirty="0">
                <a:solidFill>
                  <a:srgbClr val="3B3535"/>
                </a:solidFill>
                <a:latin typeface="Sora Light" pitchFamily="34" charset="0"/>
                <a:ea typeface="Sora Light" pitchFamily="34" charset="-122"/>
                <a:cs typeface="Sora Light" pitchFamily="34" charset="-120"/>
              </a:rPr>
              <a:t>Компилятор готов к использованию с CLI!</a:t>
            </a:r>
            <a:endParaRPr lang="en-US" sz="1700" dirty="0"/>
          </a:p>
        </p:txBody>
      </p:sp>
      <p:sp>
        <p:nvSpPr>
          <p:cNvPr id="25" name="Прямоугольник 24">
            <a:extLst>
              <a:ext uri="{FF2B5EF4-FFF2-40B4-BE49-F238E27FC236}">
                <a16:creationId xmlns:a16="http://schemas.microsoft.com/office/drawing/2014/main" id="{68B03F20-2ACD-4394-A4C8-758775207952}"/>
              </a:ext>
            </a:extLst>
          </p:cNvPr>
          <p:cNvSpPr/>
          <p:nvPr/>
        </p:nvSpPr>
        <p:spPr>
          <a:xfrm>
            <a:off x="12562114" y="7478486"/>
            <a:ext cx="2068286" cy="729922"/>
          </a:xfrm>
          <a:prstGeom prst="rect">
            <a:avLst/>
          </a:prstGeom>
          <a:solidFill>
            <a:srgbClr val="FFFAFA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Стандартная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7</TotalTime>
  <Words>658</Words>
  <Application>Microsoft Office PowerPoint</Application>
  <PresentationFormat>Произвольный</PresentationFormat>
  <Paragraphs>89</Paragraphs>
  <Slides>8</Slides>
  <Notes>8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5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8</vt:i4>
      </vt:variant>
    </vt:vector>
  </HeadingPairs>
  <TitlesOfParts>
    <vt:vector size="14" baseType="lpstr">
      <vt:lpstr>Calibri</vt:lpstr>
      <vt:lpstr>Sora Light</vt:lpstr>
      <vt:lpstr>Consolas Light</vt:lpstr>
      <vt:lpstr>Alexandria Semi Bold</vt:lpstr>
      <vt:lpstr>Arial</vt:lpstr>
      <vt:lpstr>Office Theme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Презентация PowerPoint</dc:title>
  <dc:subject/>
  <dc:creator>Глеб Карпухин</dc:creator>
  <cp:lastModifiedBy>Глеб</cp:lastModifiedBy>
  <cp:revision>3</cp:revision>
  <dcterms:created xsi:type="dcterms:W3CDTF">2025-12-25T10:41:28Z</dcterms:created>
  <dcterms:modified xsi:type="dcterms:W3CDTF">2025-12-25T12:13:50Z</dcterms:modified>
</cp:coreProperties>
</file>