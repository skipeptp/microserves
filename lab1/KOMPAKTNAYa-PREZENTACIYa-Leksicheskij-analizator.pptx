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Nunito Light" pitchFamily="2" charset="-52"/>
      <p:regular r:id="rId17"/>
      <p:italic r:id="rId18"/>
    </p:embeddedFont>
    <p:embeddedFont>
      <p:font typeface="Poppins Bold" panose="020B0604020202020204" charset="0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2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6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947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Лексический</a:t>
            </a:r>
            <a:r>
              <a:rPr lang="en-US" sz="44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r>
              <a:rPr lang="en-US" sz="4450" b="1" dirty="0" err="1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анализатор</a:t>
            </a:r>
            <a:r>
              <a:rPr lang="ru-RU" sz="44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на С++</a:t>
            </a:r>
            <a:r>
              <a:rPr lang="en-US" sz="44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9048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- Автор: Карпухин Г. Д. и Мосягин Н. В., гр. 3092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229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- Преподаватель: Яковлев Н. С.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410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- НовГУ имени Ярослава Мудрого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7590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- Дисциплина: Теория языков программирования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3771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- 2025 год</a:t>
            </a:r>
            <a:endParaRPr lang="en-US" sz="17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E48E0ED-ECFD-4B19-92D4-0936F3FA4858}"/>
              </a:ext>
            </a:extLst>
          </p:cNvPr>
          <p:cNvSpPr/>
          <p:nvPr/>
        </p:nvSpPr>
        <p:spPr>
          <a:xfrm>
            <a:off x="12832080" y="7678817"/>
            <a:ext cx="1798320" cy="550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479" y="622696"/>
            <a:ext cx="500205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ЧТО ДЕЛАЕТ И ЗАЧЕМ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82479" y="16433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ЧТО?</a:t>
            </a: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Разбирает исходный код на элементарные части - </a:t>
            </a:r>
            <a:r>
              <a:rPr lang="en-US" sz="17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токены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2479" y="22613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ПРИМЕР: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82479" y="2879407"/>
            <a:ext cx="13042821" cy="702945"/>
          </a:xfrm>
          <a:prstGeom prst="roundRect">
            <a:avLst>
              <a:gd name="adj" fmla="val 13553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71168" y="2879407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97982" y="3049428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int x = 42; "int" → KEYWORD, "x" → IDENTIFIER, "=" → OPERATOR - "42" → INTEGER,  ";" → DELIMITER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2479" y="38375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ЗАЧЕМ?</a:t>
            </a: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Первый этап компилятора/интерпретатора (gcc, clang, Python, JavaScript, IDE)</a:t>
            </a:r>
            <a:endParaRPr lang="en-US" sz="17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3D77C69-1469-4E82-B8DD-A9ACF3423BF7}"/>
              </a:ext>
            </a:extLst>
          </p:cNvPr>
          <p:cNvSpPr/>
          <p:nvPr/>
        </p:nvSpPr>
        <p:spPr>
          <a:xfrm>
            <a:off x="12832080" y="7678817"/>
            <a:ext cx="1798320" cy="550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0435" y="487561"/>
            <a:ext cx="5177671" cy="443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АРХИТЕКТУРА (ВСЁ ПРОСТО)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77" y="1285280"/>
            <a:ext cx="12404527" cy="75665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1590" y="2764531"/>
            <a:ext cx="2827022" cy="376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ВХОДНОЙ ФАЙЛ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8005" y="3894670"/>
            <a:ext cx="669464" cy="6694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91740" y="6118965"/>
            <a:ext cx="2827022" cy="75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КОНЕЧНЫЙ АВТОМАТ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883004" y="3912034"/>
            <a:ext cx="2918864" cy="376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ХЕШИРОВАНИЕ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801940" y="7000399"/>
            <a:ext cx="2827022" cy="75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БИНАРНЫЙ ПОИСК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1556" y="5119162"/>
            <a:ext cx="669463" cy="669464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83884" y="5557452"/>
            <a:ext cx="669464" cy="669464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DABA745-EA35-461F-BEB9-3CC044BFF5E5}"/>
              </a:ext>
            </a:extLst>
          </p:cNvPr>
          <p:cNvSpPr/>
          <p:nvPr/>
        </p:nvSpPr>
        <p:spPr>
          <a:xfrm>
            <a:off x="12832080" y="7678817"/>
            <a:ext cx="1798320" cy="550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3995"/>
            <a:ext cx="1005304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МЕТОД 1 - КОНЕЧНЫЙ АВТОМАТ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5045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ПРИНЦИП:</a:t>
            </a: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Переходы между состояниями по типу символа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82478" y="3036985"/>
            <a:ext cx="3682841" cy="2042041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  <p:txBody>
          <a:bodyPr/>
          <a:lstStyle/>
          <a:p>
            <a:r>
              <a:rPr lang="en-US" dirty="0"/>
              <a:t>START</a:t>
            </a:r>
          </a:p>
          <a:p>
            <a:r>
              <a:rPr lang="en-US" dirty="0"/>
              <a:t>  ├─ </a:t>
            </a:r>
            <a:r>
              <a:rPr lang="ru-RU" dirty="0"/>
              <a:t>буква/_ → </a:t>
            </a:r>
            <a:r>
              <a:rPr lang="en-US" dirty="0"/>
              <a:t>IDENTIFIER_ST</a:t>
            </a:r>
          </a:p>
          <a:p>
            <a:r>
              <a:rPr lang="en-US" dirty="0"/>
              <a:t>  ├─ </a:t>
            </a:r>
            <a:r>
              <a:rPr lang="ru-RU" dirty="0"/>
              <a:t>цифра → </a:t>
            </a:r>
            <a:r>
              <a:rPr lang="en-US" dirty="0"/>
              <a:t>INTEGER_ST</a:t>
            </a:r>
          </a:p>
          <a:p>
            <a:r>
              <a:rPr lang="en-US" dirty="0"/>
              <a:t>  ├─ </a:t>
            </a:r>
            <a:r>
              <a:rPr lang="ru-RU" dirty="0"/>
              <a:t>кавычка → </a:t>
            </a:r>
            <a:r>
              <a:rPr lang="en-US" dirty="0"/>
              <a:t>STRING_ST</a:t>
            </a:r>
          </a:p>
          <a:p>
            <a:r>
              <a:rPr lang="en-US" dirty="0"/>
              <a:t>  └─ </a:t>
            </a:r>
            <a:r>
              <a:rPr lang="ru-RU" dirty="0"/>
              <a:t>оператор → </a:t>
            </a:r>
            <a:r>
              <a:rPr lang="en-US" dirty="0"/>
              <a:t>OPERATOR_ST</a:t>
            </a:r>
          </a:p>
          <a:p>
            <a:r>
              <a:rPr lang="en-US" dirty="0"/>
              <a:t>     ↓ (</a:t>
            </a:r>
            <a:r>
              <a:rPr lang="ru-RU" dirty="0"/>
              <a:t>читаем до разделителя)</a:t>
            </a:r>
          </a:p>
          <a:p>
            <a:r>
              <a:rPr lang="ru-RU" dirty="0"/>
              <a:t>  </a:t>
            </a:r>
            <a:r>
              <a:rPr lang="en-US" dirty="0"/>
              <a:t>ACCEPT → </a:t>
            </a:r>
            <a:r>
              <a:rPr lang="ru-RU" dirty="0"/>
              <a:t>создаём токен</a:t>
            </a:r>
          </a:p>
        </p:txBody>
      </p:sp>
      <p:sp>
        <p:nvSpPr>
          <p:cNvPr id="7" name="Text 5"/>
          <p:cNvSpPr/>
          <p:nvPr/>
        </p:nvSpPr>
        <p:spPr>
          <a:xfrm>
            <a:off x="9574530" y="25045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ПРИМЕР: Число "3.14"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9269731" y="3000016"/>
            <a:ext cx="4156710" cy="1846304"/>
          </a:xfrm>
          <a:prstGeom prst="roundRect">
            <a:avLst>
              <a:gd name="adj" fmla="val 8938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63827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СЛОЖНОСТЬ:</a:t>
            </a: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O(n) - каждый символ один раз</a:t>
            </a:r>
            <a:endParaRPr lang="en-US" sz="17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E90F2A-8B22-4B3D-B93A-C678EFD15BB9}"/>
              </a:ext>
            </a:extLst>
          </p:cNvPr>
          <p:cNvSpPr txBox="1"/>
          <p:nvPr/>
        </p:nvSpPr>
        <p:spPr>
          <a:xfrm>
            <a:off x="9376410" y="3147774"/>
            <a:ext cx="118338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'3' (цифра) → </a:t>
            </a:r>
            <a:r>
              <a:rPr lang="en-US" dirty="0"/>
              <a:t>INTEGER_ST</a:t>
            </a:r>
          </a:p>
          <a:p>
            <a:r>
              <a:rPr lang="en-US" dirty="0"/>
              <a:t>'.' (</a:t>
            </a:r>
            <a:r>
              <a:rPr lang="ru-RU" dirty="0"/>
              <a:t>точка) → </a:t>
            </a:r>
            <a:r>
              <a:rPr lang="en-US" dirty="0"/>
              <a:t>FLOAT_ST</a:t>
            </a:r>
          </a:p>
          <a:p>
            <a:r>
              <a:rPr lang="en-US" dirty="0"/>
              <a:t>'1','4' (</a:t>
            </a:r>
            <a:r>
              <a:rPr lang="ru-RU" dirty="0"/>
              <a:t>цифры) → остаемся в </a:t>
            </a:r>
            <a:r>
              <a:rPr lang="en-US" dirty="0"/>
              <a:t>FLOAT_ST</a:t>
            </a:r>
          </a:p>
          <a:p>
            <a:r>
              <a:rPr lang="en-US" dirty="0"/>
              <a:t>';' (</a:t>
            </a:r>
            <a:r>
              <a:rPr lang="ru-RU" dirty="0"/>
              <a:t>не цифра) → </a:t>
            </a:r>
            <a:r>
              <a:rPr lang="en-US" dirty="0"/>
              <a:t>ACCEPT</a:t>
            </a:r>
          </a:p>
          <a:p>
            <a:r>
              <a:rPr lang="ru-RU" dirty="0"/>
              <a:t>Результат: </a:t>
            </a:r>
            <a:r>
              <a:rPr lang="en-US" dirty="0"/>
              <a:t>FLOAT, "3.14" ✓</a:t>
            </a: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4ADA4C5-9E1A-4560-A3C7-98A9D481ADC2}"/>
              </a:ext>
            </a:extLst>
          </p:cNvPr>
          <p:cNvSpPr/>
          <p:nvPr/>
        </p:nvSpPr>
        <p:spPr>
          <a:xfrm>
            <a:off x="12832080" y="7678817"/>
            <a:ext cx="1798320" cy="550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5446"/>
            <a:ext cx="874537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МЕТОД 2 - ХЕШИРОВАНИЕ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6860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СТРУКТУРА: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04103"/>
            <a:ext cx="13042821" cy="702945"/>
          </a:xfrm>
          <a:prstGeom prst="roundRect">
            <a:avLst>
              <a:gd name="adj" fmla="val 1355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1009293" y="3474125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unordered_set</a:t>
            </a:r>
            <a:r>
              <a:rPr lang="en-US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&lt;&lt;string&gt;&gt; keywords = { "int", "float", "if", "else", "while", ... };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621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КАК РАБОТАЕТ: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4880253"/>
            <a:ext cx="13042821" cy="1065848"/>
          </a:xfrm>
          <a:prstGeom prst="roundRect">
            <a:avLst>
              <a:gd name="adj" fmla="val 8938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2479" y="4880253"/>
            <a:ext cx="13065443" cy="1065848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09293" y="5050274"/>
            <a:ext cx="126118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"int" → hash() → index[5] → FOUND ✓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"</a:t>
            </a:r>
            <a:r>
              <a:rPr lang="en-US" sz="1750" dirty="0" err="1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myVar</a:t>
            </a:r>
            <a:r>
              <a:rPr lang="en-US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" → hash() → NOT found ✓ (both O(1)!)</a:t>
            </a:r>
          </a:p>
        </p:txBody>
      </p:sp>
      <p:sp>
        <p:nvSpPr>
          <p:cNvPr id="11" name="Text 9"/>
          <p:cNvSpPr/>
          <p:nvPr/>
        </p:nvSpPr>
        <p:spPr>
          <a:xfrm>
            <a:off x="793790" y="62012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ПОЧЕМУ O(1)?</a:t>
            </a: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Средний случай - прямой доступ по индексу vs O(n) - до 30 сравнений в цикле</a:t>
            </a:r>
            <a:endParaRPr lang="en-US" sz="17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2793474-AE4F-42FF-9BFF-320CB6506786}"/>
              </a:ext>
            </a:extLst>
          </p:cNvPr>
          <p:cNvSpPr/>
          <p:nvPr/>
        </p:nvSpPr>
        <p:spPr>
          <a:xfrm>
            <a:off x="12832080" y="7678817"/>
            <a:ext cx="1798320" cy="550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3995"/>
            <a:ext cx="960501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МЕТОД 3 - БИНАРНЫЙ ПОИСК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5045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32 ОПЕРАТОРА ОТСОРТИРОВАНЫ</a:t>
            </a: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22652"/>
            <a:ext cx="13042821" cy="702945"/>
          </a:xfrm>
          <a:prstGeom prst="roundRect">
            <a:avLst>
              <a:gd name="adj" fmla="val 13553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3122652"/>
            <a:ext cx="13065443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3292673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vector&lt;string&gt; ops = { "!", "!=", "%", "&amp;&amp;", "==", ... }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0807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КАК РАБОТАЕТ: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4443650"/>
            <a:ext cx="13042821" cy="2239686"/>
          </a:xfrm>
          <a:prstGeom prst="roundRect">
            <a:avLst>
              <a:gd name="adj" fmla="val 6668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4443651"/>
            <a:ext cx="12611814" cy="1876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Ищем "=="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Итерация 1: [0...31], </a:t>
            </a:r>
            <a:r>
              <a:rPr lang="ru-RU" sz="1750" dirty="0" err="1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mid</a:t>
            </a:r>
            <a:r>
              <a:rPr lang="ru-RU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=16 → "&lt;"  → искать справа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Итерация 2: [17...31], </a:t>
            </a:r>
            <a:r>
              <a:rPr lang="ru-RU" sz="1750" dirty="0" err="1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mid</a:t>
            </a:r>
            <a:r>
              <a:rPr lang="ru-RU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=24 → "&gt;" → искать слева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Итерация 3: [17...22], </a:t>
            </a:r>
            <a:r>
              <a:rPr lang="ru-RU" sz="1750" dirty="0" err="1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mid</a:t>
            </a:r>
            <a:r>
              <a:rPr lang="ru-RU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=20 → "=" → искать справа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Итерация 4: [21...22], </a:t>
            </a:r>
            <a:r>
              <a:rPr lang="ru-RU" sz="1750" dirty="0" err="1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mid</a:t>
            </a:r>
            <a:r>
              <a:rPr lang="ru-RU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=21 → "==" ✓ НАЙДЕНО!</a:t>
            </a:r>
            <a:br>
              <a:rPr lang="en-US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</a:br>
            <a:r>
              <a:rPr lang="ru-RU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Максимум 5 итераций для 32 операторов</a:t>
            </a:r>
            <a:r>
              <a:rPr lang="en-US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</a:t>
            </a:r>
            <a:r>
              <a:rPr lang="ru-RU" sz="1750" dirty="0" err="1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vs</a:t>
            </a:r>
            <a:r>
              <a:rPr lang="ru-RU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32 сравнения в линейном поиске!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82479" y="67456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СЛОЖНОСТЬ:</a:t>
            </a:r>
            <a:r>
              <a:rPr lang="en-US" sz="17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O(log 32) ≈ O(5)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9B64CF4-D8D6-41E7-B069-78CB336FF617}"/>
              </a:ext>
            </a:extLst>
          </p:cNvPr>
          <p:cNvSpPr/>
          <p:nvPr/>
        </p:nvSpPr>
        <p:spPr>
          <a:xfrm>
            <a:off x="12832080" y="7678817"/>
            <a:ext cx="1798320" cy="550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4413"/>
            <a:ext cx="882276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МЕТОД 4 - КОММЕНТАРИИ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9950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ОДНОСТРОЧНЫЕ (//):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13071"/>
            <a:ext cx="13042821" cy="702945"/>
          </a:xfrm>
          <a:prstGeom prst="roundRect">
            <a:avLst>
              <a:gd name="adj" fmla="val 13553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3613071"/>
            <a:ext cx="13065443" cy="958096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3737372"/>
            <a:ext cx="126118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fr-FR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if(code[pos]=='/' &amp;&amp; code[pos+1]=='/') {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fr-FR" sz="17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while(code[pos]!='\n') pos++; → COMMENT }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168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МНОГОСТРОЧНЫЕ (/* */):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189220"/>
            <a:ext cx="13042821" cy="1065848"/>
          </a:xfrm>
          <a:prstGeom prst="roundRect">
            <a:avLst>
              <a:gd name="adj" fmla="val 8938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2479" y="5189220"/>
            <a:ext cx="13065443" cy="1065848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09293" y="5359241"/>
            <a:ext cx="126118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/>
              <a:t>if(code[pos]=='/' &amp;&amp; code[pos+1]=='*') {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/>
              <a:t>    while(!(code[pos]=='*' &amp;&amp; code[pos+1]=='/')) pos++; }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B264586-FA6C-4A6B-9E0C-ACD35372D157}"/>
              </a:ext>
            </a:extLst>
          </p:cNvPr>
          <p:cNvSpPr/>
          <p:nvPr/>
        </p:nvSpPr>
        <p:spPr>
          <a:xfrm>
            <a:off x="12832080" y="7663577"/>
            <a:ext cx="1798320" cy="550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65" y="586264"/>
            <a:ext cx="6815018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ТИПЫ ТОКЕНОВ И РЕЗУЛЬТАТЫ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746165" y="1545550"/>
            <a:ext cx="13138071" cy="5524143"/>
          </a:xfrm>
          <a:prstGeom prst="roundRect">
            <a:avLst>
              <a:gd name="adj" fmla="val 162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785" y="1553170"/>
            <a:ext cx="13121402" cy="6121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68454" y="1688663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KEYWORD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45549" y="1688663"/>
            <a:ext cx="393942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int, float, if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18834" y="1688663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Хеш-таблица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53785" y="2165271"/>
            <a:ext cx="13121402" cy="6121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68454" y="2300764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IDENTIFIER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345549" y="2300764"/>
            <a:ext cx="393942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x, main, count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18834" y="2300764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Автомат + проверка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53785" y="2777371"/>
            <a:ext cx="13121402" cy="6121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68454" y="2912864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INTEGER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45549" y="2912864"/>
            <a:ext cx="393942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42, 0, -7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18834" y="2912864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Автомат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53785" y="3389471"/>
            <a:ext cx="13121402" cy="6121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8454" y="3524964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FLOAT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45549" y="3524964"/>
            <a:ext cx="393942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3.14, 1.2e-3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18834" y="3524964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Автомат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53785" y="4001572"/>
            <a:ext cx="13121402" cy="6121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8454" y="4137065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STRING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345549" y="4137065"/>
            <a:ext cx="393942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"Hello"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718834" y="4137065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Автомат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53785" y="4613672"/>
            <a:ext cx="13121402" cy="6121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68454" y="4749165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OPERATOR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345549" y="4749165"/>
            <a:ext cx="393942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+, ==, &amp;&amp;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718834" y="4749165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Бинарный поиск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753785" y="5225772"/>
            <a:ext cx="13121402" cy="6121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68454" y="5361265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DELIMITER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5345549" y="5361265"/>
            <a:ext cx="393942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(), {}, ;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718834" y="5361265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Автомат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753785" y="5837873"/>
            <a:ext cx="13121402" cy="6121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68454" y="5973366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COMMENT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5345549" y="5973366"/>
            <a:ext cx="393942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//, /* */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718834" y="5973366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Специальная обработка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753785" y="6449973"/>
            <a:ext cx="13121402" cy="6121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68454" y="6585466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ERROR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5345549" y="6585466"/>
            <a:ext cx="393942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@, #, ??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718834" y="6585466"/>
            <a:ext cx="394323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Неизвестные символы</a:t>
            </a:r>
            <a:endParaRPr lang="en-US" sz="1650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B902D522-93B2-47FD-8063-8E892D4B5CDF}"/>
              </a:ext>
            </a:extLst>
          </p:cNvPr>
          <p:cNvSpPr/>
          <p:nvPr/>
        </p:nvSpPr>
        <p:spPr>
          <a:xfrm>
            <a:off x="12832080" y="7678817"/>
            <a:ext cx="1798320" cy="550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015" y="545306"/>
            <a:ext cx="4694515" cy="495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ДЕМОНСТРАЦИЯ (LIVE)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4015" y="1437561"/>
            <a:ext cx="13242369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ПРОЦЕСС: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4015" y="1977866"/>
            <a:ext cx="13242369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/>
            </a:pPr>
            <a:r>
              <a:rPr lang="en-US" sz="15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Входной файл: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4015" y="2518172"/>
            <a:ext cx="13242369" cy="614720"/>
          </a:xfrm>
          <a:prstGeom prst="roundRect">
            <a:avLst>
              <a:gd name="adj" fmla="val 13549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84133" y="2518172"/>
            <a:ext cx="13262134" cy="614720"/>
          </a:xfrm>
          <a:prstGeom prst="roundRect">
            <a:avLst>
              <a:gd name="adj" fmla="val 4839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82372" y="2666881"/>
            <a:ext cx="12865656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int main() { float x = 3.14; // переменная return 0; }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94015" y="3355896"/>
            <a:ext cx="13242369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/>
            </a:pPr>
            <a:r>
              <a:rPr lang="en-US" sz="15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Команда:</a:t>
            </a: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./lexer input.cpp output.md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94015" y="3742492"/>
            <a:ext cx="13242369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2"/>
            </a:pPr>
            <a:r>
              <a:rPr lang="en-US" sz="15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Выходной файл (output.md):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94015" y="4282797"/>
            <a:ext cx="13242369" cy="2867382"/>
          </a:xfrm>
          <a:prstGeom prst="roundRect">
            <a:avLst>
              <a:gd name="adj" fmla="val 290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1635" y="4290417"/>
            <a:ext cx="13227129" cy="57042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2" name="Text 10"/>
          <p:cNvSpPr/>
          <p:nvPr/>
        </p:nvSpPr>
        <p:spPr>
          <a:xfrm>
            <a:off x="900113" y="4416981"/>
            <a:ext cx="290643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1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210645" y="4416981"/>
            <a:ext cx="290262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17368" y="4416981"/>
            <a:ext cx="290262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KEYWORD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824091" y="4416981"/>
            <a:ext cx="290643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550" dirty="0">
                <a:solidFill>
                  <a:srgbClr val="1B1B1B"/>
                </a:solidFill>
                <a:latin typeface="Nunito Light" pitchFamily="34" charset="0"/>
              </a:rPr>
              <a:t>Значение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01635" y="4860846"/>
            <a:ext cx="13227129" cy="57042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00113" y="4987409"/>
            <a:ext cx="290643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1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10645" y="4987409"/>
            <a:ext cx="290262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main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17368" y="4987409"/>
            <a:ext cx="290262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IDENTIFIER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824091" y="4987409"/>
            <a:ext cx="290643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id_1_5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01635" y="5431274"/>
            <a:ext cx="13227129" cy="57042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00113" y="5557838"/>
            <a:ext cx="290643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1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210645" y="5557838"/>
            <a:ext cx="290262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3.14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17368" y="5557838"/>
            <a:ext cx="290262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FLOAT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824091" y="5557838"/>
            <a:ext cx="290643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3.14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01635" y="6001703"/>
            <a:ext cx="13227129" cy="57042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00113" y="6128266"/>
            <a:ext cx="290643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1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210645" y="6128266"/>
            <a:ext cx="290262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// перем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517368" y="6128266"/>
            <a:ext cx="290262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COMMENT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0824091" y="6128266"/>
            <a:ext cx="290643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comment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01635" y="6572131"/>
            <a:ext cx="13227129" cy="57042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00113" y="6698694"/>
            <a:ext cx="290643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...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210645" y="6698694"/>
            <a:ext cx="290262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...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517368" y="6698694"/>
            <a:ext cx="290262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...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0824091" y="6698694"/>
            <a:ext cx="290643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...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694015" y="7373183"/>
            <a:ext cx="13242369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ИТОГ:</a:t>
            </a: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15 токенов распознано </a:t>
            </a:r>
            <a:r>
              <a:rPr lang="en-US" sz="1550" dirty="0" err="1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правильно</a:t>
            </a: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</a:t>
            </a:r>
            <a:endParaRPr lang="en-US" sz="1550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BC3359C-E697-425E-A519-EEB06AF9B5AC}"/>
              </a:ext>
            </a:extLst>
          </p:cNvPr>
          <p:cNvSpPr/>
          <p:nvPr/>
        </p:nvSpPr>
        <p:spPr>
          <a:xfrm>
            <a:off x="12832080" y="7648337"/>
            <a:ext cx="1798320" cy="550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754" y="551378"/>
            <a:ext cx="5012293" cy="501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b="1" dirty="0">
                <a:solidFill>
                  <a:srgbClr val="9967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ВЫВОДЫ И СЛОЖНОСТЬ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701754" y="1453634"/>
            <a:ext cx="13226891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ЧТО ПОЛУЧИЛОСЬ: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01754" y="1999893"/>
            <a:ext cx="13226891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✓ Анализатор разбирает код на токены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1754" y="2390775"/>
            <a:ext cx="13226891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✓ Использовано 4 метода = 21 балл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1754" y="2781657"/>
            <a:ext cx="13226891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✓ Временная сложность: </a:t>
            </a:r>
            <a:r>
              <a:rPr lang="en-US" sz="15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O(n)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1754" y="3172539"/>
            <a:ext cx="13226891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✓ Пространственная сложность: </a:t>
            </a:r>
            <a:r>
              <a:rPr lang="en-US" sz="15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O(n + m)</a:t>
            </a: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где n = размер файла, m = количество токенов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1754" y="3718798"/>
            <a:ext cx="13226891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ПРОИЗВОДИТЕЛЬНОСТЬ: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01754" y="4265057"/>
            <a:ext cx="13226891" cy="2321243"/>
          </a:xfrm>
          <a:prstGeom prst="roundRect">
            <a:avLst>
              <a:gd name="adj" fmla="val 362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9374" y="4272677"/>
            <a:ext cx="13210223" cy="5765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1304" y="4400550"/>
            <a:ext cx="399811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Автомат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18046" y="4400550"/>
            <a:ext cx="399430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O(n)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720977" y="4400550"/>
            <a:ext cx="399811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Каждый символ один раз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09374" y="4849178"/>
            <a:ext cx="13210223" cy="5765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1304" y="4977051"/>
            <a:ext cx="399811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Хеширование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18046" y="4977051"/>
            <a:ext cx="399430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O(1)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720977" y="4977051"/>
            <a:ext cx="399811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Поиск ключевого слова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09374" y="5425678"/>
            <a:ext cx="13210223" cy="5765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1304" y="5553551"/>
            <a:ext cx="399811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Бинарный поиск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18046" y="5553551"/>
            <a:ext cx="399430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O(log 32) ≈ O(5)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720977" y="5553551"/>
            <a:ext cx="399811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Поиск оператора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09374" y="6002179"/>
            <a:ext cx="13210223" cy="5765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11304" y="6130052"/>
            <a:ext cx="399811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Комментарии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318046" y="6130052"/>
            <a:ext cx="399430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O(длина)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720977" y="6130052"/>
            <a:ext cx="3998119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Пропускаем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01754" y="6811804"/>
            <a:ext cx="13226891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ОБЩАЯ:</a:t>
            </a: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O(n × 1) = </a:t>
            </a:r>
            <a:r>
              <a:rPr lang="en-US" sz="1550" b="1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O(n)</a:t>
            </a: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- линейная! </a:t>
            </a:r>
            <a:r>
              <a:rPr lang="en-US" sz="1550" dirty="0">
                <a:solidFill>
                  <a:srgbClr val="0000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✅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01754" y="7358063"/>
            <a:ext cx="13226891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AC00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ПРИЛОЖЕНИЕ:</a:t>
            </a:r>
            <a:r>
              <a:rPr lang="en-US" sz="1550" dirty="0">
                <a:solidFill>
                  <a:srgbClr val="1B1B1B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 Компиляторы (gcc), интерпретаторы (Python), IDE</a:t>
            </a:r>
            <a:endParaRPr lang="en-US" sz="155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9FFE957-BD18-4436-AC20-F0BDDA7445FF}"/>
              </a:ext>
            </a:extLst>
          </p:cNvPr>
          <p:cNvSpPr/>
          <p:nvPr/>
        </p:nvSpPr>
        <p:spPr>
          <a:xfrm>
            <a:off x="12832080" y="7678817"/>
            <a:ext cx="1798320" cy="5507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766</Words>
  <Application>Microsoft Office PowerPoint</Application>
  <PresentationFormat>Произвольный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Poppins Bold</vt:lpstr>
      <vt:lpstr>Calibri</vt:lpstr>
      <vt:lpstr>Nunito Light</vt:lpstr>
      <vt:lpstr>Consolas Light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Глеб Карпухин</dc:creator>
  <cp:lastModifiedBy>Глеб</cp:lastModifiedBy>
  <cp:revision>5</cp:revision>
  <dcterms:created xsi:type="dcterms:W3CDTF">2025-12-18T07:43:26Z</dcterms:created>
  <dcterms:modified xsi:type="dcterms:W3CDTF">2025-12-18T08:32:01Z</dcterms:modified>
</cp:coreProperties>
</file>