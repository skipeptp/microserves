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Nunito Light" pitchFamily="2" charset="-52"/>
      <p:regular r:id="rId21"/>
      <p:italic r:id="rId22"/>
    </p:embeddedFont>
    <p:embeddedFont>
      <p:font typeface="Poppins Bold" panose="00000800000000000000" pitchFamily="2" charset="0"/>
      <p:bold r:id="rId23"/>
    </p:embeddedFont>
    <p:embeddedFont>
      <p:font typeface="Poppins Light" panose="00000400000000000000" pitchFamily="2" charset="0"/>
      <p:regular r:id="rId24"/>
      <p: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2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1640" y="750927"/>
            <a:ext cx="7660719" cy="2648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 err="1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Синтаксический</a:t>
            </a:r>
            <a:r>
              <a:rPr lang="en-US" sz="41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r>
              <a:rPr lang="en-US" sz="4150" b="1" dirty="0" err="1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анализатор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741640" y="3230285"/>
            <a:ext cx="766071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Синтаксический анализатор C++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41640" y="3807738"/>
            <a:ext cx="766071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Автор: Карпухин Г. Д. и Мосягин Н. В., гр. 3092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41640" y="4220885"/>
            <a:ext cx="766071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Преподаватель: Яковлев Н. С.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1640" y="4634032"/>
            <a:ext cx="766071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НовГУ имени Ярослава Мудрого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1640" y="5047179"/>
            <a:ext cx="766071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Дисциплина: Теория языков программирования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41640" y="5460326"/>
            <a:ext cx="766071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2025 год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41640" y="6037779"/>
            <a:ext cx="766071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Метод: </a:t>
            </a:r>
            <a:r>
              <a:rPr lang="en-US" sz="1650" b="1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Рекурсивный спуск</a:t>
            </a:r>
            <a:r>
              <a:rPr lang="en-US" sz="16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• </a:t>
            </a:r>
            <a:r>
              <a:rPr lang="en-US" sz="1650" b="1" dirty="0">
                <a:solidFill>
                  <a:srgbClr val="8F01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Интерфейс с логом</a:t>
            </a:r>
            <a:r>
              <a:rPr lang="en-US" sz="16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• </a:t>
            </a: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Обработка ошибок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5866"/>
            <a:ext cx="74992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ПОСТАНОВКА ЗАДАЧИ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23647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D4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23647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C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4937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ЧТО?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98418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Проверяет, соответствует ли исходный код заданной грамматике, и строит дерево синтаксического разбора (AST)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23647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D4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23647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C00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4937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ПРИМЕР: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298418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 main() { </a:t>
            </a:r>
            <a:endParaRPr lang="ru-RU" sz="1750" dirty="0">
              <a:solidFill>
                <a:srgbClr val="1B1B1B"/>
              </a:solidFill>
              <a:latin typeface="Nunito Light" pitchFamily="34" charset="0"/>
              <a:ea typeface="Nunito Light" pitchFamily="34" charset="-122"/>
              <a:cs typeface="Nunito Light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 x = 42; </a:t>
            </a:r>
            <a:endParaRPr lang="ru-RU" sz="1750" dirty="0">
              <a:solidFill>
                <a:srgbClr val="1B1B1B"/>
              </a:solidFill>
              <a:latin typeface="Nunito Light" pitchFamily="34" charset="0"/>
              <a:ea typeface="Nunito Light" pitchFamily="34" charset="-122"/>
              <a:cs typeface="Nunito Light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return 0; } </a:t>
            </a:r>
            <a:endParaRPr lang="ru-RU" sz="1750" dirty="0">
              <a:solidFill>
                <a:srgbClr val="1B1B1B"/>
              </a:solidFill>
              <a:latin typeface="Nunito Light" pitchFamily="34" charset="0"/>
              <a:ea typeface="Nunito Light" pitchFamily="34" charset="-122"/>
              <a:cs typeface="Nunito Light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✓ Грамматически правильно!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23647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D4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23647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C00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4937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ВХОД: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298418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Программа на C++ (токены из Лексера)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1990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E5D4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91990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FAC00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5177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ВЫХОД: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66761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AST + лог анализа + сообщение об ошибке (если есть)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91990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E5D4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91990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FAC00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5177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ЗАЧЕМ?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66761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Второй этап компилятора (после лексера) Проверяет синтаксис перед компиляцией</a:t>
            </a:r>
            <a:endParaRPr lang="en-US" sz="17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0D20F3C-FC87-4DCB-BF0C-2C2710F50AAE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789279CD-197D-4560-8461-A1B4594AC7B9}"/>
              </a:ext>
            </a:extLst>
          </p:cNvPr>
          <p:cNvSpPr/>
          <p:nvPr/>
        </p:nvSpPr>
        <p:spPr>
          <a:xfrm>
            <a:off x="756881" y="1095422"/>
            <a:ext cx="13079730" cy="4945294"/>
          </a:xfrm>
          <a:prstGeom prst="roundRect">
            <a:avLst>
              <a:gd name="adj" fmla="val 628"/>
            </a:avLst>
          </a:prstGeom>
          <a:solidFill>
            <a:srgbClr val="F2F2F2"/>
          </a:solidFill>
          <a:ln/>
        </p:spPr>
      </p:sp>
      <p:sp>
        <p:nvSpPr>
          <p:cNvPr id="2" name="Text 0"/>
          <p:cNvSpPr/>
          <p:nvPr/>
        </p:nvSpPr>
        <p:spPr>
          <a:xfrm>
            <a:off x="793790" y="639417"/>
            <a:ext cx="791348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АРХИТЕКТУРА СИСТЕМЫ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6355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Компоненты: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8643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lexer.h/cpp, parser.h/cpp, main.cpp, Makefile, tests/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EF04287-DD4A-4026-97F6-928DEBD08E32}"/>
              </a:ext>
            </a:extLst>
          </p:cNvPr>
          <p:cNvSpPr/>
          <p:nvPr/>
        </p:nvSpPr>
        <p:spPr>
          <a:xfrm>
            <a:off x="853802" y="1361082"/>
            <a:ext cx="12630388" cy="503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600" dirty="0">
                <a:effectLst/>
                <a:latin typeface="Consolas" panose="020B0609020204030204" pitchFamily="49" charset="0"/>
              </a:rPr>
              <a:t>ИСХОДНЫЙ ФАЙЛ (.</a:t>
            </a:r>
            <a:r>
              <a:rPr lang="en-US" sz="1600" dirty="0" err="1">
                <a:effectLst/>
                <a:latin typeface="Consolas" panose="020B0609020204030204" pitchFamily="49" charset="0"/>
              </a:rPr>
              <a:t>cpp</a:t>
            </a:r>
            <a:r>
              <a:rPr lang="en-US" sz="160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        ↓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┌─────────────────────────────┐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│   </a:t>
            </a:r>
            <a:r>
              <a:rPr lang="ru-RU" sz="1600" dirty="0">
                <a:effectLst/>
                <a:latin typeface="Consolas" panose="020B0609020204030204" pitchFamily="49" charset="0"/>
              </a:rPr>
              <a:t>ЛЕКСЕР (из ЛР1)           │</a:t>
            </a:r>
          </a:p>
          <a:p>
            <a:r>
              <a:rPr lang="ru-RU" sz="1600" dirty="0">
                <a:effectLst/>
                <a:latin typeface="Consolas" panose="020B0609020204030204" pitchFamily="49" charset="0"/>
              </a:rPr>
              <a:t>│   (</a:t>
            </a:r>
            <a:r>
              <a:rPr lang="en-US" sz="1600" dirty="0">
                <a:effectLst/>
                <a:latin typeface="Consolas" panose="020B0609020204030204" pitchFamily="49" charset="0"/>
              </a:rPr>
              <a:t>tokenize)                │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└────────────┬────────────────┘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             ↓ (Tokens)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┌─────────────────────────────┐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│   </a:t>
            </a:r>
            <a:r>
              <a:rPr lang="ru-RU" sz="1600" dirty="0">
                <a:effectLst/>
                <a:latin typeface="Consolas" panose="020B0609020204030204" pitchFamily="49" charset="0"/>
              </a:rPr>
              <a:t>СИНТАКСИЧЕСКИЙ АНАЛИЗ     │</a:t>
            </a:r>
          </a:p>
          <a:p>
            <a:r>
              <a:rPr lang="ru-RU" sz="1600" dirty="0">
                <a:effectLst/>
                <a:latin typeface="Consolas" panose="020B0609020204030204" pitchFamily="49" charset="0"/>
              </a:rPr>
              <a:t>│   (рекурсивный спуск)       │</a:t>
            </a:r>
          </a:p>
          <a:p>
            <a:r>
              <a:rPr lang="ru-RU" sz="1600" dirty="0">
                <a:effectLst/>
                <a:latin typeface="Consolas" panose="020B0609020204030204" pitchFamily="49" charset="0"/>
              </a:rPr>
              <a:t>│   </a:t>
            </a:r>
            <a:r>
              <a:rPr lang="en-US" sz="1600" dirty="0">
                <a:effectLst/>
                <a:latin typeface="Consolas" panose="020B0609020204030204" pitchFamily="49" charset="0"/>
              </a:rPr>
              <a:t>Parser::</a:t>
            </a:r>
            <a:r>
              <a:rPr lang="en-US" sz="1600" dirty="0" err="1">
                <a:effectLst/>
                <a:latin typeface="Consolas" panose="020B0609020204030204" pitchFamily="49" charset="0"/>
              </a:rPr>
              <a:t>parseProgram</a:t>
            </a:r>
            <a:r>
              <a:rPr lang="en-US" sz="1600" dirty="0">
                <a:effectLst/>
                <a:latin typeface="Consolas" panose="020B0609020204030204" pitchFamily="49" charset="0"/>
              </a:rPr>
              <a:t>()    │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└────────────┬────────────────┘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             ↓ (AST)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        ┌─────────────┐</a:t>
            </a:r>
          </a:p>
          <a:p>
            <a:r>
              <a:rPr lang="en-US" sz="1600" dirty="0">
                <a:effectLst/>
                <a:latin typeface="Consolas" panose="020B0609020204030204" pitchFamily="49" charset="0"/>
              </a:rPr>
              <a:t>        ├─ parse.log  │ (</a:t>
            </a:r>
            <a:r>
              <a:rPr lang="ru-RU" sz="1600" dirty="0">
                <a:effectLst/>
                <a:latin typeface="Consolas" panose="020B0609020204030204" pitchFamily="49" charset="0"/>
              </a:rPr>
              <a:t>подробный лог)</a:t>
            </a:r>
          </a:p>
          <a:p>
            <a:r>
              <a:rPr lang="ru-RU" sz="1600" dirty="0">
                <a:effectLst/>
                <a:latin typeface="Consolas" panose="020B0609020204030204" pitchFamily="49" charset="0"/>
              </a:rPr>
              <a:t>        ├─ </a:t>
            </a:r>
            <a:r>
              <a:rPr lang="en-US" sz="1600" dirty="0" err="1">
                <a:effectLst/>
                <a:latin typeface="Consolas" panose="020B0609020204030204" pitchFamily="49" charset="0"/>
              </a:rPr>
              <a:t>tree.ast</a:t>
            </a:r>
            <a:r>
              <a:rPr lang="en-US" sz="1600" dirty="0">
                <a:effectLst/>
                <a:latin typeface="Consolas" panose="020B0609020204030204" pitchFamily="49" charset="0"/>
              </a:rPr>
              <a:t>   │ (</a:t>
            </a:r>
            <a:r>
              <a:rPr lang="ru-RU" sz="1600" dirty="0">
                <a:effectLst/>
                <a:latin typeface="Consolas" panose="020B0609020204030204" pitchFamily="49" charset="0"/>
              </a:rPr>
              <a:t>дерево в файл)</a:t>
            </a:r>
          </a:p>
          <a:p>
            <a:r>
              <a:rPr lang="ru-RU" sz="1600" dirty="0">
                <a:effectLst/>
                <a:latin typeface="Consolas" panose="020B0609020204030204" pitchFamily="49" charset="0"/>
              </a:rPr>
              <a:t>        └─ вывод в консоль</a:t>
            </a: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
</a:t>
            </a:r>
            <a:endParaRPr lang="ru-RU" sz="1600" dirty="0">
              <a:effectLst/>
            </a:endParaRPr>
          </a:p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2EBCFB9-D0C5-4712-908D-1DE913F9A20C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18053"/>
            <a:ext cx="12370237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ПОДДЕРЖИВАЕМАЯ ГРАММАТИКА 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86527" y="1629251"/>
            <a:ext cx="13057346" cy="5370909"/>
          </a:xfrm>
          <a:prstGeom prst="roundRect">
            <a:avLst>
              <a:gd name="adj" fmla="val 175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75335" y="1629251"/>
            <a:ext cx="13079730" cy="5370909"/>
          </a:xfrm>
          <a:prstGeom prst="roundRect">
            <a:avLst>
              <a:gd name="adj" fmla="val 62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00006" y="1797725"/>
            <a:ext cx="12630388" cy="503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0" dirty="0" err="1">
                <a:effectLst/>
                <a:latin typeface="Consolas" panose="020B0609020204030204" pitchFamily="49" charset="0"/>
              </a:rPr>
              <a:t>bnf</a:t>
            </a:r>
            <a:endParaRPr lang="en-US" sz="1600" b="0" dirty="0"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&lt;program&gt;           ::=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declaration_list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declaration_list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 ::= { &lt;declaration&gt; }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&lt;declaration&gt;       ::= &lt;type&gt; &lt;id&gt; [ "=" &lt;expr&gt; ] ";"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                     |  &lt;type&gt; &lt;id&gt; "(" [&lt;params&gt;] ")" &lt;compound&gt;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&lt;statement&gt;         ::=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var_decl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|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if_stmt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|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while_stmt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                     |  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return_stmt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|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expr_stmt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| &lt;compound&gt;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&lt;expression&gt;        ::=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logical_or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{ "||"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logical_or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}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logical_or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       ::=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logical_and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{ "&amp;&amp;"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logical_and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}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logical_and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       ::= &lt;equality&gt; { ("==" | "!=") &lt;equality&gt; }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&lt;equality&gt;          ::= &lt;relational&gt; { ("&lt;" | "&gt;" | "&lt;=" | "&gt;=") &lt;relational&gt; }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&lt;relational&gt;        ::= &lt;additive&gt; { ("+" | "-") &lt;additive&gt; }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&lt;additive&gt;          ::= &lt;multiplicative&gt; { ("*" | "/" | "%") &lt;multiplicative&gt; }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&lt;multiplicative&gt;    ::= &lt;unary&gt; | ["!" | "-" | "+"] &lt;unary&gt;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&lt;unary&gt;             ::= &lt;primary&gt;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&lt;primary&gt;           ::= &lt;id&gt; | &lt;number&gt; | &lt;string&gt; | "(" &lt;expr&gt; ")" | &lt;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func_call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
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6527" y="7252930"/>
            <a:ext cx="13057346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КЛЮЧЕВОЕ: </a:t>
            </a: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Иерархия выражений (приоритет операций)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C4F4071-0C23-4995-850F-6194047D5BE5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395" y="686872"/>
            <a:ext cx="10908983" cy="486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МЕТОД РЕКУРСИВНОГО СПУСКА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81395" y="1562933"/>
            <a:ext cx="194667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1395" y="1870948"/>
            <a:ext cx="4292679" cy="22860"/>
          </a:xfrm>
          <a:prstGeom prst="rect">
            <a:avLst/>
          </a:prstGeom>
          <a:solidFill>
            <a:srgbClr val="FFAC00"/>
          </a:solidFill>
          <a:ln/>
        </p:spPr>
      </p:sp>
      <p:sp>
        <p:nvSpPr>
          <p:cNvPr id="5" name="Text 3"/>
          <p:cNvSpPr/>
          <p:nvPr/>
        </p:nvSpPr>
        <p:spPr>
          <a:xfrm>
            <a:off x="681395" y="2013942"/>
            <a:ext cx="2433637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ПРИНЦИП: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1395" y="2434947"/>
            <a:ext cx="429267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Каждый нетерминал грамматики </a:t>
            </a:r>
            <a:r>
              <a:rPr lang="en-US" sz="1500" dirty="0">
                <a:solidFill>
                  <a:srgbClr val="0000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↔</a:t>
            </a: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один метод парсера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395" y="3182303"/>
            <a:ext cx="4292679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parseProgram() → Program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1395" y="3561874"/>
            <a:ext cx="4292679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parseDeclarationList() → DeclarationList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395" y="3941445"/>
            <a:ext cx="4292679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parseDeclaration() → Declaration (Var or Function)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395" y="4632484"/>
            <a:ext cx="4292679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parseStatement() → Statement (if/while/return/etc)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395" y="5323523"/>
            <a:ext cx="4292679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parseExpression() → Expression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395" y="5703094"/>
            <a:ext cx="4292679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parseLogicalOrExpression() → Expression (||)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395" y="6082665"/>
            <a:ext cx="4292679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parseLogicalAndExpression() → Expression (&amp;&amp;)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395" y="6773704"/>
            <a:ext cx="4292679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... и так далее для всех уровней приоритета операций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8741" y="1562933"/>
            <a:ext cx="194667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68741" y="1870948"/>
            <a:ext cx="4292798" cy="22860"/>
          </a:xfrm>
          <a:prstGeom prst="rect">
            <a:avLst/>
          </a:prstGeom>
          <a:solidFill>
            <a:srgbClr val="FFAC00"/>
          </a:solidFill>
          <a:ln/>
        </p:spPr>
      </p:sp>
      <p:sp>
        <p:nvSpPr>
          <p:cNvPr id="17" name="Text 15"/>
          <p:cNvSpPr/>
          <p:nvPr/>
        </p:nvSpPr>
        <p:spPr>
          <a:xfrm>
            <a:off x="5168741" y="2013942"/>
            <a:ext cx="2433637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КАК РАБОТАЕТ: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168741" y="2434947"/>
            <a:ext cx="4292798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Текущий токен → выбираем правило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8741" y="2814518"/>
            <a:ext cx="4292798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Вызываем нужный parse*() метод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68741" y="3194090"/>
            <a:ext cx="4292798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Создаём узел AST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8741" y="3573661"/>
            <a:ext cx="4292798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Добавляем дочерние узлы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8741" y="3953232"/>
            <a:ext cx="4292798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Проверяем ожидаемые токены (expect())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68741" y="4332803"/>
            <a:ext cx="4292798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Двигаемся дальше (advance())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56207" y="1562933"/>
            <a:ext cx="194667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56207" y="1870948"/>
            <a:ext cx="4292798" cy="22860"/>
          </a:xfrm>
          <a:prstGeom prst="rect">
            <a:avLst/>
          </a:prstGeom>
          <a:solidFill>
            <a:srgbClr val="FFAC00"/>
          </a:solidFill>
          <a:ln/>
        </p:spPr>
      </p:sp>
      <p:sp>
        <p:nvSpPr>
          <p:cNvPr id="26" name="Text 24"/>
          <p:cNvSpPr/>
          <p:nvPr/>
        </p:nvSpPr>
        <p:spPr>
          <a:xfrm>
            <a:off x="9656207" y="2013942"/>
            <a:ext cx="2433637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СЛОЖНОСТЬ: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56207" y="2434947"/>
            <a:ext cx="4292798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O(n) – каждый токен обработан один раз</a:t>
            </a:r>
            <a:endParaRPr lang="en-US" sz="15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31245A5-15B9-4D6E-AF61-5AFA70F8F36B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898" y="553045"/>
            <a:ext cx="8075652" cy="502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СЛАЙД 6: СТРУКТУРА AST И ЕГО ВЫВОД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03898" y="1558528"/>
            <a:ext cx="26859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Узел AST :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03898" y="2099072"/>
            <a:ext cx="6366034" cy="2553414"/>
          </a:xfrm>
          <a:prstGeom prst="roundRect">
            <a:avLst>
              <a:gd name="adj" fmla="val 330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93896" y="2099072"/>
            <a:ext cx="6386036" cy="2553414"/>
          </a:xfrm>
          <a:prstGeom prst="roundRect">
            <a:avLst>
              <a:gd name="adj" fmla="val 118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94993" y="2249805"/>
            <a:ext cx="5983843" cy="225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struct ASTNode {
  string name; </a:t>
            </a:r>
            <a:r>
              <a:rPr lang="ru-RU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               </a:t>
            </a:r>
            <a:r>
              <a:rPr lang="en-US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"Program", "Declaration", "BinaryOp"
  string value; </a:t>
            </a:r>
            <a:r>
              <a:rPr lang="ru-RU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               </a:t>
            </a:r>
            <a:r>
              <a:rPr lang="en-US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"+", "42", "main"
  int line, col; </a:t>
            </a:r>
            <a:r>
              <a:rPr lang="ru-RU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               </a:t>
            </a:r>
            <a:r>
              <a:rPr lang="en-US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позиция в исходном коде
  vector&lt;ASTNode*&gt; children; // дочерние узлы
};
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8089" y="1558528"/>
            <a:ext cx="394632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ВЫВОД ДЕРЕВА: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68089" y="2099072"/>
            <a:ext cx="6366034" cy="4805362"/>
          </a:xfrm>
          <a:prstGeom prst="roundRect">
            <a:avLst>
              <a:gd name="adj" fmla="val 1758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558088" y="2099072"/>
            <a:ext cx="6386036" cy="4805362"/>
          </a:xfrm>
          <a:prstGeom prst="roundRect">
            <a:avLst>
              <a:gd name="adj" fmla="val 62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759184" y="2249805"/>
            <a:ext cx="5983843" cy="450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Program [1:1]
  DeclarationList [1:1]
    FunctionDeclaration [1:1]
      Type: "int" [1:1]
      FunctionName: "main" [1:5]
      CompoundStatement [1:12]
        StatementList [2:3]
          VarDeclaration [2:3]
            Type: "int" [2:3]
            Identifier: "x" [2:7]
            IntegerLiteral: "42" [2:11]
          ReturnStatement [3:3]
            IntegerLiteral: "0" [3:10]
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3898" y="7356872"/>
            <a:ext cx="13222605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МЕТОДЫ:</a:t>
            </a: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ast-&gt;print() (консоль), saveASTToFile() (файл)</a:t>
            </a:r>
            <a:endParaRPr lang="en-US" sz="15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B9EEA95-2095-4089-B2B0-6C52FBF43A16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624" y="697825"/>
            <a:ext cx="12137708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ЛОГИРОВАНИЕ СИНТАКСИЧЕСКОГО АНАЛИЗА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11624" y="1571506"/>
            <a:ext cx="3100745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СТРУКТУРА ЛОГИРОВАНИЯ: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11624" y="2041088"/>
            <a:ext cx="6490454" cy="5293995"/>
          </a:xfrm>
          <a:prstGeom prst="roundRect">
            <a:avLst>
              <a:gd name="adj" fmla="val 138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02933" y="2041088"/>
            <a:ext cx="6507837" cy="5293995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77597" y="2172057"/>
            <a:ext cx="6158508" cy="503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=== SYNTAX ANALYSIS LOG ===
Start time: 2025-12-17 20:30:45
============================
Token: [1:1] KEYWORD "void"
ENTER Program at [1:1] KEYWORD "void"
  ENTER DeclarationList at [1:1] KEYWORD "void"
    ENTER Declaration at [1:1] KEYWORD "void"
      ENTER Type at [1:1] KEYWORD "void"
      Token: [1:6] IDENTIFIER "test"
      EXIT Type - SUCCESS
...
EXIT DeclarationList - SUCCESS
EXIT Program - SUCCESS
=== PARSING COMPLETED ===
Total nodes created: 25
Errors encountered: 0
Parse time: 0.084 ms
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35942" y="1571506"/>
            <a:ext cx="2184678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ЧТО ЛОГИРУЕТСЯ: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35942" y="2019181"/>
            <a:ext cx="649045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Входные токены (с позициями)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35942" y="2359819"/>
            <a:ext cx="649045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ENTER/EXIT каждого правила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35942" y="2700457"/>
            <a:ext cx="649045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Глубина вложенности (отступы)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35942" y="3041094"/>
            <a:ext cx="649045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Время парсинга и статистика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35942" y="3477935"/>
            <a:ext cx="649045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ФАЙЛ:</a:t>
            </a:r>
            <a:r>
              <a:rPr lang="en-US" sz="13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parse.log (или указанный)</a:t>
            </a:r>
            <a:endParaRPr lang="en-US" sz="13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5B385D7-45A8-4142-8B17-7B9261CA6D41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329" y="569833"/>
            <a:ext cx="9216271" cy="51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ОБРАБОТКА ОШИБОК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5329" y="1605915"/>
            <a:ext cx="325290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ParseError Исключение: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5329" y="2162889"/>
            <a:ext cx="6337102" cy="1968698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14970" y="2162889"/>
            <a:ext cx="6357818" cy="1968698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22139" y="2318266"/>
            <a:ext cx="5943481" cy="1657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class ParseError : public exception {
  int line, col;
  string expected, found;
};
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5329" y="4364712"/>
            <a:ext cx="25905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ПРИМЕР ОШИБКИ: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5329" y="4895731"/>
            <a:ext cx="6337102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Входной код: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5329" y="5460444"/>
            <a:ext cx="6337102" cy="1968698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14970" y="5460444"/>
            <a:ext cx="6357818" cy="1968698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922139" y="5615821"/>
            <a:ext cx="5943481" cy="1657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main() {
  int x = 10
  return 0; </a:t>
            </a:r>
            <a:r>
              <a:rPr lang="ru-RU" sz="160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</a:t>
            </a:r>
            <a:r>
              <a:rPr lang="en-US" sz="160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← ОШИБКА: пропущен ;
}
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5590" y="1605915"/>
            <a:ext cx="25905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Вывод ошибки: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575590" y="2162889"/>
            <a:ext cx="6337102" cy="3295055"/>
          </a:xfrm>
          <a:prstGeom prst="roundRect">
            <a:avLst>
              <a:gd name="adj" fmla="val 2642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65231" y="2162889"/>
            <a:ext cx="6357818" cy="3295055"/>
          </a:xfrm>
          <a:prstGeom prst="roundRect">
            <a:avLst>
              <a:gd name="adj" fmla="val 943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2318266"/>
            <a:ext cx="5943481" cy="298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==================================================
PARSING FAILED
==================================================
Parse Error at line 2, column 20:
Expected DELIMITER, found KEYWORD "return"
Expected: ;
Found: return "return"
Check the log file for detailed parsing trace: parse.log
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75590" y="5691068"/>
            <a:ext cx="6337102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 ЛОГЕ:</a:t>
            </a:r>
            <a:r>
              <a:rPr lang="en-US" sz="16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Полная трассировка где произошла ошибка</a:t>
            </a:r>
            <a:endParaRPr lang="en-US" sz="16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DF5DE5B-319E-4CF8-B08F-9DBA6AE3ECBB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7461" y="584121"/>
            <a:ext cx="10819924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ТЕСТИРОВАНИЕ (ПОЗИТИВНЫЕ И НЕГАТИВНЫЕ)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37461" y="1494711"/>
            <a:ext cx="6455569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ПОЗИТИВНЫЕ ТЕСТЫ (корректный код – должны парситься):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7461" y="2268736"/>
            <a:ext cx="6455569" cy="3339227"/>
          </a:xfrm>
          <a:prstGeom prst="roundRect">
            <a:avLst>
              <a:gd name="adj" fmla="val 22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5081" y="2276356"/>
            <a:ext cx="6439614" cy="8165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8080" y="2393156"/>
            <a:ext cx="1778317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positive1.cpp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78110" y="2393156"/>
            <a:ext cx="177450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 main() { int x = 42; return x; 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4331" y="2393156"/>
            <a:ext cx="177831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Простая функция с переменной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5081" y="3092887"/>
            <a:ext cx="6439614" cy="13994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8080" y="3209687"/>
            <a:ext cx="1778317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positive2.cpp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8110" y="3209687"/>
            <a:ext cx="177450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 factorial(int n) { if (n &lt;= 1) return 1; else return n * factorial(n - 1); 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4331" y="3209687"/>
            <a:ext cx="177831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Параметры, условия, рекурсия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5081" y="4492347"/>
            <a:ext cx="6439614" cy="1107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8080" y="4609148"/>
            <a:ext cx="1778317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positive3.cpp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8110" y="4609148"/>
            <a:ext cx="1774508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void test() { int a = 5; int b = 10; int sum = a + b; 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4331" y="4609148"/>
            <a:ext cx="177831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Объявления и выражения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44991" y="1494711"/>
            <a:ext cx="578155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НЕГАТИВНЫЕ ТЕСТЫ (ошибки – должны падать):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544991" y="1984177"/>
            <a:ext cx="6455569" cy="2464832"/>
          </a:xfrm>
          <a:prstGeom prst="roundRect">
            <a:avLst>
              <a:gd name="adj" fmla="val 310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2611" y="1991797"/>
            <a:ext cx="6439614" cy="8165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35610" y="2108597"/>
            <a:ext cx="1778317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negative1.cpp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85640" y="2108597"/>
            <a:ext cx="1774508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Пропущен 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31861" y="2108597"/>
            <a:ext cx="177831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 main() { int x = 10 return 0; }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52611" y="2808327"/>
            <a:ext cx="6439614" cy="8165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35610" y="2925128"/>
            <a:ext cx="1778317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negative2.cpp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85640" y="2925128"/>
            <a:ext cx="177450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Неверная скобка в условии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031861" y="2925128"/>
            <a:ext cx="177831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 main() { if (1 { x = 5; } return 0; }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52611" y="3624858"/>
            <a:ext cx="6439614" cy="8165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35610" y="3741658"/>
            <a:ext cx="1778317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negative3.cpp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85640" y="3741658"/>
            <a:ext cx="177450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Неполное выражение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031861" y="3741658"/>
            <a:ext cx="177831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 main() { int x = ; return 0; }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7461" y="6085999"/>
            <a:ext cx="2276713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КОМАНДЫ: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637461" y="6643688"/>
            <a:ext cx="13355479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make test-positive # Все должны PASS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7461" y="6998851"/>
            <a:ext cx="13355479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make test-negative # Все должны падать с ошибкой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7461" y="7354014"/>
            <a:ext cx="13355479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make test # Всё вместе</a:t>
            </a:r>
            <a:endParaRPr lang="en-US" sz="1400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F08F061-ECB7-4864-B388-4A2E77A7A4ED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91" y="539710"/>
            <a:ext cx="7063740" cy="490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РЕЗУЛЬТАТЫ И ВЫВОДЫ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86991" y="1520904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ЧТО ПОЛУЧИЛОСЬ: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6991" y="2023824"/>
            <a:ext cx="6388775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Метод рекурсивного спуска (15 баллов)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6991" y="2406610"/>
            <a:ext cx="6388775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Удобный интерфейс с логом (+3 балла)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6991" y="2789396"/>
            <a:ext cx="6388775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Эффективные сообщения об ошибках (+2 балла)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6991" y="3172182"/>
            <a:ext cx="6388775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Полная интеграция с Лексером из ЛР1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6991" y="3554968"/>
            <a:ext cx="6388775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AST с позициями в исходном коде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6991" y="3937754"/>
            <a:ext cx="6388775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Все тесты pass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6991" y="4448056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AC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ИТОГО: 20 баллов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62255" y="1520904"/>
            <a:ext cx="3168253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ПРОИЗВОДИТЕЛЬНОСТЬ: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562255" y="2048351"/>
            <a:ext cx="6388775" cy="2588657"/>
          </a:xfrm>
          <a:prstGeom prst="roundRect">
            <a:avLst>
              <a:gd name="adj" fmla="val 318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69875" y="2055971"/>
            <a:ext cx="6373535" cy="8789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66209" y="2181344"/>
            <a:ext cx="2790468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Время парсинга simple_test.cpp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56727" y="2181344"/>
            <a:ext cx="279046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~0.1 мс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69875" y="2934891"/>
            <a:ext cx="6373535" cy="5648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66209" y="3060263"/>
            <a:ext cx="279046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Создано узлов 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56727" y="3060263"/>
            <a:ext cx="279046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~25 (на типичном коде)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69875" y="3499723"/>
            <a:ext cx="6373535" cy="5648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66209" y="3625096"/>
            <a:ext cx="279046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Время с логированием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56727" y="3625096"/>
            <a:ext cx="279046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~0.2 мс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569875" y="4064556"/>
            <a:ext cx="6373535" cy="5648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66209" y="4189928"/>
            <a:ext cx="279046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Память для AST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56727" y="4189928"/>
            <a:ext cx="279046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~2-5 KB на 100 строк кода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6991" y="5245298"/>
            <a:ext cx="346007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ПРАКТИЧЕСКАЯ ЦЕННОСТЬ: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86991" y="5846326"/>
            <a:ext cx="1325641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Демонстрирует связку Лексер → Парсер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6991" y="6229112"/>
            <a:ext cx="1325641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Показывает обработку синтаксических ошибок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6991" y="6611898"/>
            <a:ext cx="1325641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Иерархия выражений с приоритетом операций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6991" y="6994684"/>
            <a:ext cx="1325641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Логирование и диагностика ошибок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6991" y="7377470"/>
            <a:ext cx="1325641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Пригоден как учебный пример компилятора</a:t>
            </a:r>
            <a:endParaRPr lang="en-US" sz="1500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B0AB40F-256B-4CA9-AE67-DE495EDFC53A}"/>
              </a:ext>
            </a:extLst>
          </p:cNvPr>
          <p:cNvSpPr/>
          <p:nvPr/>
        </p:nvSpPr>
        <p:spPr>
          <a:xfrm>
            <a:off x="12714514" y="7587342"/>
            <a:ext cx="1915886" cy="642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1419</Words>
  <Application>Microsoft Office PowerPoint</Application>
  <PresentationFormat>Произвольный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Calibri</vt:lpstr>
      <vt:lpstr>Poppins Light</vt:lpstr>
      <vt:lpstr>Consolas Light</vt:lpstr>
      <vt:lpstr>Nunito Light</vt:lpstr>
      <vt:lpstr>Arial</vt:lpstr>
      <vt:lpstr>Consolas</vt:lpstr>
      <vt:lpstr>Poppins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Глеб</cp:lastModifiedBy>
  <cp:revision>4</cp:revision>
  <dcterms:created xsi:type="dcterms:W3CDTF">2025-12-18T08:13:33Z</dcterms:created>
  <dcterms:modified xsi:type="dcterms:W3CDTF">2025-12-18T08:30:48Z</dcterms:modified>
</cp:coreProperties>
</file>